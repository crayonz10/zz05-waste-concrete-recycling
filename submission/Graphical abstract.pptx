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2" r:id="rId3"/>
  </p:sldIdLst>
  <p:sldSz cx="12192000" cy="6858000"/>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59" d="100"/>
          <a:sy n="159" d="100"/>
        </p:scale>
        <p:origin x="12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1" Type="http://schemas.openxmlformats.org/officeDocument/2006/relationships/slideLayout" Target="../slideLayouts/slideLayout2.xml"/><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252417" y="596455"/>
            <a:ext cx="3503028" cy="598805"/>
          </a:xfrm>
          <a:prstGeom prst="rect">
            <a:avLst/>
          </a:prstGeom>
        </p:spPr>
        <p:txBody>
          <a:bodyPr wrap="square">
            <a:spAutoFit/>
          </a:bodyPr>
          <a:lstStyle/>
          <a:p>
            <a:pPr algn="just" defTabSz="266700">
              <a:lnSpc>
                <a:spcPct val="100000"/>
              </a:lnSpc>
              <a:buClrTx/>
              <a:buSzTx/>
              <a:buFontTx/>
            </a:pPr>
            <a:r>
              <a:rPr lang="en-US" altLang="zh-CN" sz="1100" dirty="0">
                <a:latin typeface="Times New Roman" panose="02020503050405090304"/>
                <a:ea typeface="宋体" pitchFamily="2" charset="-122"/>
              </a:rPr>
              <a:t>1. </a:t>
            </a:r>
            <a:r>
              <a:rPr lang="en-US" altLang="zh-CN" sz="1100" dirty="0">
                <a:latin typeface="Times New Roman" panose="02020503050405090304"/>
                <a:ea typeface="宋体" pitchFamily="2" charset="-122"/>
              </a:rPr>
              <a:t>Cooperation in the competition environment is more beneficial for both participants than the pure non-cooperative game model.</a:t>
            </a:r>
            <a:endParaRPr lang="en-US" altLang="zh-CN" sz="1100" dirty="0">
              <a:latin typeface="Times New Roman" panose="02020503050405090304"/>
              <a:ea typeface="宋体" pitchFamily="2" charset="-122"/>
            </a:endParaRPr>
          </a:p>
        </p:txBody>
      </p:sp>
      <p:sp>
        <p:nvSpPr>
          <p:cNvPr id="3" name="文本框 2"/>
          <p:cNvSpPr txBox="1"/>
          <p:nvPr/>
        </p:nvSpPr>
        <p:spPr>
          <a:xfrm>
            <a:off x="8228463" y="3192150"/>
            <a:ext cx="3503028" cy="1106805"/>
          </a:xfrm>
          <a:prstGeom prst="rect">
            <a:avLst/>
          </a:prstGeom>
        </p:spPr>
        <p:txBody>
          <a:bodyPr wrap="square">
            <a:spAutoFit/>
          </a:bodyPr>
          <a:lstStyle/>
          <a:p>
            <a:pPr algn="just" defTabSz="266700">
              <a:lnSpc>
                <a:spcPct val="100000"/>
              </a:lnSpc>
              <a:buClrTx/>
              <a:buSzTx/>
              <a:buFontTx/>
            </a:pPr>
            <a:r>
              <a:rPr lang="en-US" altLang="zh-CN" sz="1100" dirty="0">
                <a:latin typeface="Times New Roman" panose="02020503050405090304"/>
                <a:ea typeface="宋体" pitchFamily="2" charset="-122"/>
              </a:rPr>
              <a:t>2. </a:t>
            </a:r>
            <a:r>
              <a:rPr lang="en-US" altLang="zh-CN" sz="1100" dirty="0">
                <a:latin typeface="Times New Roman" panose="02020503050405090304"/>
                <a:ea typeface="宋体" pitchFamily="2" charset="-122"/>
              </a:rPr>
              <a:t>Concerning the impacts of the cap-and-trade mechanism, the study finds that an increase in the carbon trading price generally raises costs and reduces profit margins of the concrete manufacture and the recycler. Cooperation in the competition environment provides a buffering effect against such volatility.</a:t>
            </a:r>
            <a:endParaRPr lang="en-US" altLang="zh-CN" sz="1100" dirty="0">
              <a:latin typeface="Times New Roman" panose="02020503050405090304"/>
              <a:ea typeface="宋体" pitchFamily="2" charset="-122"/>
            </a:endParaRPr>
          </a:p>
        </p:txBody>
      </p:sp>
      <p:sp>
        <p:nvSpPr>
          <p:cNvPr id="13" name="圆角矩形 12"/>
          <p:cNvSpPr/>
          <p:nvPr/>
        </p:nvSpPr>
        <p:spPr>
          <a:xfrm>
            <a:off x="8187973" y="285115"/>
            <a:ext cx="3631917" cy="6413500"/>
          </a:xfrm>
          <a:prstGeom prst="roundRect">
            <a:avLst>
              <a:gd name="adj" fmla="val 8723"/>
            </a:avLst>
          </a:prstGeom>
          <a:ln w="19050" cmpd="sng">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4" name="文本框 13"/>
          <p:cNvSpPr txBox="1"/>
          <p:nvPr/>
        </p:nvSpPr>
        <p:spPr>
          <a:xfrm>
            <a:off x="8187973" y="114300"/>
            <a:ext cx="3631917" cy="393700"/>
          </a:xfrm>
          <a:prstGeom prst="rect">
            <a:avLst/>
          </a:prstGeom>
          <a:solidFill>
            <a:schemeClr val="accent4">
              <a:lumMod val="75000"/>
            </a:schemeClr>
          </a:solid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rPr>
              <a:t>Key Findings</a:t>
            </a:r>
            <a:endParaRPr lang="en-US" altLang="zh-CN" sz="2000"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endParaRPr>
          </a:p>
        </p:txBody>
      </p:sp>
      <p:sp>
        <p:nvSpPr>
          <p:cNvPr id="17" name="右箭头 16"/>
          <p:cNvSpPr/>
          <p:nvPr/>
        </p:nvSpPr>
        <p:spPr>
          <a:xfrm>
            <a:off x="7877908" y="3047822"/>
            <a:ext cx="309050" cy="342443"/>
          </a:xfrm>
          <a:prstGeom prs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9" name="圆角矩形 28"/>
          <p:cNvSpPr/>
          <p:nvPr/>
        </p:nvSpPr>
        <p:spPr>
          <a:xfrm>
            <a:off x="298942" y="285115"/>
            <a:ext cx="3629025" cy="6413500"/>
          </a:xfrm>
          <a:prstGeom prst="roundRect">
            <a:avLst>
              <a:gd name="adj" fmla="val 9096"/>
            </a:avLst>
          </a:prstGeom>
          <a:ln w="19050" cmpd="sng">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0" name="文本框 29"/>
          <p:cNvSpPr txBox="1"/>
          <p:nvPr/>
        </p:nvSpPr>
        <p:spPr>
          <a:xfrm>
            <a:off x="298942" y="114300"/>
            <a:ext cx="3629025" cy="393700"/>
          </a:xfrm>
          <a:prstGeom prst="rect">
            <a:avLst/>
          </a:prstGeom>
          <a:solidFill>
            <a:schemeClr val="accent4">
              <a:lumMod val="75000"/>
            </a:schemeClr>
          </a:solidFill>
        </p:spPr>
        <p:txBody>
          <a:bodyPr wrap="square" rtlCol="0">
            <a:noAutofit/>
          </a:bodyPr>
          <a:lstStyle/>
          <a:p>
            <a:pPr algn="ctr"/>
            <a:r>
              <a:rPr lang="en-US" altLang="zh-CN" sz="2000"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sym typeface="+mn-ea"/>
              </a:rPr>
              <a:t>Research Questions</a:t>
            </a:r>
            <a:endParaRPr lang="en-US" altLang="zh-CN" sz="2000"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endParaRPr>
          </a:p>
        </p:txBody>
      </p:sp>
      <p:sp>
        <p:nvSpPr>
          <p:cNvPr id="55" name="文本框 54"/>
          <p:cNvSpPr txBox="1"/>
          <p:nvPr/>
        </p:nvSpPr>
        <p:spPr>
          <a:xfrm>
            <a:off x="399415" y="4783921"/>
            <a:ext cx="3402965" cy="598805"/>
          </a:xfrm>
          <a:prstGeom prst="rect">
            <a:avLst/>
          </a:prstGeom>
          <a:noFill/>
          <a:ln w="12700" cmpd="sng">
            <a:noFill/>
            <a:prstDash val="solid"/>
          </a:ln>
        </p:spPr>
        <p:txBody>
          <a:bodyPr wrap="square" rtlCol="0">
            <a:spAutoFit/>
          </a:bodyPr>
          <a:lstStyle/>
          <a:p>
            <a:pPr algn="just" defTabSz="266700">
              <a:buClrTx/>
              <a:buSzTx/>
              <a:buFontTx/>
            </a:pPr>
            <a:r>
              <a:rPr lang="en-US" altLang="zh-CN" sz="1100" b="1" dirty="0">
                <a:latin typeface="Times New Roman" panose="02020503050405090304"/>
                <a:ea typeface="Times New Roman" panose="02020503050405090304"/>
              </a:rPr>
              <a:t>Research question 2: </a:t>
            </a:r>
            <a:r>
              <a:rPr lang="en-US" altLang="zh-CN" sz="1100" dirty="0">
                <a:solidFill>
                  <a:schemeClr val="tx1"/>
                </a:solidFill>
                <a:latin typeface="Times New Roman" panose="02020503050405090304"/>
                <a:ea typeface="Times New Roman" panose="02020503050405090304"/>
              </a:rPr>
              <a:t>What are the impacts of the cap-and-trade mechanism on the decisions of concrete manufacturers and recyclers in waste concrete recycling?</a:t>
            </a:r>
            <a:endParaRPr lang="en-US" altLang="zh-CN" sz="1100" dirty="0">
              <a:solidFill>
                <a:schemeClr val="tx1"/>
              </a:solidFill>
              <a:latin typeface="Times New Roman" panose="02020503050405090304"/>
              <a:ea typeface="Times New Roman" panose="02020503050405090304"/>
            </a:endParaRPr>
          </a:p>
        </p:txBody>
      </p:sp>
      <p:sp>
        <p:nvSpPr>
          <p:cNvPr id="67" name="文本框 66"/>
          <p:cNvSpPr txBox="1"/>
          <p:nvPr/>
        </p:nvSpPr>
        <p:spPr>
          <a:xfrm>
            <a:off x="372427" y="2319050"/>
            <a:ext cx="3493135" cy="598805"/>
          </a:xfrm>
          <a:prstGeom prst="rect">
            <a:avLst/>
          </a:prstGeom>
          <a:noFill/>
          <a:ln w="12700" cmpd="sng">
            <a:noFill/>
            <a:prstDash val="solid"/>
          </a:ln>
        </p:spPr>
        <p:txBody>
          <a:bodyPr wrap="square" rtlCol="0">
            <a:spAutoFit/>
          </a:bodyPr>
          <a:lstStyle/>
          <a:p>
            <a:pPr algn="just" defTabSz="266700">
              <a:buClrTx/>
              <a:buSzTx/>
              <a:buFontTx/>
            </a:pPr>
            <a:r>
              <a:rPr lang="en-US" altLang="zh-CN" sz="1100" b="1" dirty="0">
                <a:latin typeface="Times New Roman" panose="02020503050405090304"/>
                <a:ea typeface="Times New Roman" panose="02020503050405090304"/>
              </a:rPr>
              <a:t>Research question 1: </a:t>
            </a:r>
            <a:r>
              <a:rPr lang="en-US" altLang="zh-CN" sz="1100" dirty="0">
                <a:latin typeface="Times New Roman" panose="02020503050405090304"/>
                <a:ea typeface="Times New Roman" panose="02020503050405090304"/>
              </a:rPr>
              <a:t>Considering cap-and-trade mechanism, should concrete manufacturers and recyclers engage in cooperation within the competitive environment?</a:t>
            </a:r>
            <a:endParaRPr lang="en-US" altLang="zh-CN" sz="1100" dirty="0">
              <a:latin typeface="Times New Roman" panose="02020503050405090304"/>
              <a:ea typeface="Times New Roman" panose="02020503050405090304"/>
            </a:endParaRPr>
          </a:p>
        </p:txBody>
      </p:sp>
      <p:sp>
        <p:nvSpPr>
          <p:cNvPr id="38" name="文本框 37"/>
          <p:cNvSpPr txBox="1"/>
          <p:nvPr/>
        </p:nvSpPr>
        <p:spPr>
          <a:xfrm>
            <a:off x="161925" y="1772920"/>
            <a:ext cx="1720850" cy="260350"/>
          </a:xfrm>
          <a:prstGeom prst="rect">
            <a:avLst/>
          </a:prstGeom>
          <a:ln w="12700">
            <a:noFill/>
          </a:ln>
        </p:spPr>
        <p:txBody>
          <a:bodyPr wrap="square">
            <a:spAutoFit/>
          </a:bodyPr>
          <a:lstStyle/>
          <a:p>
            <a:pPr indent="0" algn="ctr" defTabSz="266700" fontAlgn="auto">
              <a:lnSpc>
                <a:spcPct val="100000"/>
              </a:lnSpc>
              <a:spcBef>
                <a:spcPct val="0"/>
              </a:spcBef>
              <a:spcAft>
                <a:spcPct val="0"/>
              </a:spcAft>
            </a:pPr>
            <a:r>
              <a:rPr lang="en-US" altLang="zh-CN" sz="1100" dirty="0">
                <a:latin typeface="Times New Roman" panose="02020503050405090304" charset="0"/>
                <a:cs typeface="Times New Roman" panose="02020503050405090304" charset="0"/>
              </a:rPr>
              <a:t>Concrete </a:t>
            </a:r>
            <a:r>
              <a:rPr lang="en-US" altLang="zh-CN" sz="1100" dirty="0">
                <a:latin typeface="Times New Roman" panose="02020503050405090304" charset="0"/>
                <a:cs typeface="Times New Roman" panose="02020503050405090304" charset="0"/>
              </a:rPr>
              <a:t>Manufacturer</a:t>
            </a:r>
            <a:endParaRPr lang="en-US" altLang="zh-CN" sz="1100" dirty="0">
              <a:latin typeface="Times New Roman" panose="02020503050405090304" charset="0"/>
              <a:cs typeface="Times New Roman" panose="02020503050405090304" charset="0"/>
            </a:endParaRPr>
          </a:p>
        </p:txBody>
      </p:sp>
      <p:sp>
        <p:nvSpPr>
          <p:cNvPr id="42" name="文本框 41"/>
          <p:cNvSpPr txBox="1"/>
          <p:nvPr/>
        </p:nvSpPr>
        <p:spPr>
          <a:xfrm>
            <a:off x="4285237" y="574423"/>
            <a:ext cx="2320925" cy="275590"/>
          </a:xfrm>
          <a:prstGeom prst="rect">
            <a:avLst/>
          </a:prstGeom>
        </p:spPr>
        <p:txBody>
          <a:bodyPr wrap="square">
            <a:spAutoFit/>
          </a:bodyPr>
          <a:lstStyle/>
          <a:p>
            <a:pPr indent="0" algn="l" defTabSz="266700" fontAlgn="auto">
              <a:lnSpc>
                <a:spcPct val="100000"/>
              </a:lnSpc>
              <a:spcBef>
                <a:spcPct val="0"/>
              </a:spcBef>
              <a:spcAft>
                <a:spcPct val="0"/>
              </a:spcAft>
            </a:pPr>
            <a:r>
              <a:rPr lang="en-US" altLang="zh-CN" sz="1200" b="1" dirty="0">
                <a:latin typeface="Times New Roman" panose="02020503050405090304"/>
                <a:ea typeface="Times New Roman" panose="02020503050405090304"/>
              </a:rPr>
              <a:t>Game modeling and </a:t>
            </a:r>
            <a:r>
              <a:rPr lang="en-US" altLang="zh-CN" sz="1200" b="1" dirty="0">
                <a:latin typeface="Times New Roman" panose="02020503050405090304"/>
                <a:ea typeface="Times New Roman" panose="02020503050405090304"/>
              </a:rPr>
              <a:t>comparison</a:t>
            </a:r>
            <a:endParaRPr lang="en-US" altLang="zh-CN" sz="1200" b="1" dirty="0">
              <a:latin typeface="Times New Roman" panose="02020503050405090304"/>
              <a:ea typeface="Times New Roman" panose="02020503050405090304"/>
            </a:endParaRPr>
          </a:p>
        </p:txBody>
      </p:sp>
      <p:cxnSp>
        <p:nvCxnSpPr>
          <p:cNvPr id="37" name="直接连接符 36"/>
          <p:cNvCxnSpPr/>
          <p:nvPr/>
        </p:nvCxnSpPr>
        <p:spPr>
          <a:xfrm>
            <a:off x="8252618" y="3123107"/>
            <a:ext cx="3446497" cy="0"/>
          </a:xfrm>
          <a:prstGeom prst="line">
            <a:avLst/>
          </a:prstGeom>
          <a:ln>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圆角矩形 12"/>
          <p:cNvSpPr/>
          <p:nvPr/>
        </p:nvSpPr>
        <p:spPr>
          <a:xfrm>
            <a:off x="4237258" y="285115"/>
            <a:ext cx="3623579" cy="6413500"/>
          </a:xfrm>
          <a:prstGeom prst="roundRect">
            <a:avLst>
              <a:gd name="adj" fmla="val 5746"/>
            </a:avLst>
          </a:prstGeom>
          <a:ln w="19050" cmpd="sng">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47" name="右箭头 16"/>
          <p:cNvSpPr/>
          <p:nvPr/>
        </p:nvSpPr>
        <p:spPr>
          <a:xfrm rot="5400000">
            <a:off x="6003290" y="2337435"/>
            <a:ext cx="132715" cy="270510"/>
          </a:xfrm>
          <a:prstGeom prs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0" name="文本框 49"/>
          <p:cNvSpPr txBox="1"/>
          <p:nvPr/>
        </p:nvSpPr>
        <p:spPr>
          <a:xfrm>
            <a:off x="4269293" y="2623019"/>
            <a:ext cx="3600389" cy="275590"/>
          </a:xfrm>
          <a:prstGeom prst="rect">
            <a:avLst/>
          </a:prstGeom>
        </p:spPr>
        <p:txBody>
          <a:bodyPr wrap="square">
            <a:spAutoFit/>
          </a:bodyPr>
          <a:lstStyle/>
          <a:p>
            <a:pPr indent="0" algn="l" defTabSz="266700" fontAlgn="auto">
              <a:lnSpc>
                <a:spcPct val="100000"/>
              </a:lnSpc>
              <a:spcBef>
                <a:spcPct val="0"/>
              </a:spcBef>
              <a:spcAft>
                <a:spcPct val="0"/>
              </a:spcAft>
            </a:pPr>
            <a:r>
              <a:rPr lang="en-US" altLang="zh-CN" sz="1200" b="1" dirty="0">
                <a:latin typeface="Times New Roman" panose="02020503050405090304"/>
                <a:ea typeface="Times New Roman" panose="02020503050405090304"/>
              </a:rPr>
              <a:t>Decision sequence of the biform </a:t>
            </a:r>
            <a:r>
              <a:rPr lang="en-US" altLang="zh-CN" sz="1200" b="1" dirty="0">
                <a:latin typeface="Times New Roman" panose="02020503050405090304"/>
                <a:ea typeface="Times New Roman" panose="02020503050405090304"/>
              </a:rPr>
              <a:t>game</a:t>
            </a:r>
            <a:endParaRPr lang="en-US" altLang="zh-CN" sz="1200" b="1" dirty="0">
              <a:latin typeface="Times New Roman" panose="02020503050405090304"/>
              <a:ea typeface="Times New Roman" panose="02020503050405090304"/>
            </a:endParaRPr>
          </a:p>
        </p:txBody>
      </p:sp>
      <p:sp>
        <p:nvSpPr>
          <p:cNvPr id="51" name="矩形: 圆角 50"/>
          <p:cNvSpPr/>
          <p:nvPr/>
        </p:nvSpPr>
        <p:spPr>
          <a:xfrm>
            <a:off x="4286250" y="589280"/>
            <a:ext cx="3531235" cy="1817370"/>
          </a:xfrm>
          <a:prstGeom prst="roundRect">
            <a:avLst>
              <a:gd name="adj" fmla="val 4636"/>
            </a:avLst>
          </a:prstGeom>
          <a:noFill/>
          <a:ln w="12700">
            <a:solidFill>
              <a:schemeClr val="bg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52"/>
          <p:cNvSpPr/>
          <p:nvPr/>
        </p:nvSpPr>
        <p:spPr>
          <a:xfrm>
            <a:off x="4274185" y="2573020"/>
            <a:ext cx="3531235" cy="2101215"/>
          </a:xfrm>
          <a:prstGeom prst="roundRect">
            <a:avLst>
              <a:gd name="adj" fmla="val 4636"/>
            </a:avLst>
          </a:prstGeom>
          <a:noFill/>
          <a:ln w="12700">
            <a:solidFill>
              <a:schemeClr val="bg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269293" y="4784039"/>
            <a:ext cx="3600389" cy="276999"/>
          </a:xfrm>
          <a:prstGeom prst="rect">
            <a:avLst/>
          </a:prstGeom>
        </p:spPr>
        <p:txBody>
          <a:bodyPr wrap="square">
            <a:spAutoFit/>
          </a:bodyPr>
          <a:lstStyle/>
          <a:p>
            <a:pPr indent="0" algn="l" defTabSz="266700" fontAlgn="auto">
              <a:lnSpc>
                <a:spcPct val="100000"/>
              </a:lnSpc>
              <a:spcBef>
                <a:spcPct val="0"/>
              </a:spcBef>
              <a:spcAft>
                <a:spcPct val="0"/>
              </a:spcAft>
            </a:pPr>
            <a:r>
              <a:rPr lang="en-US" altLang="zh-CN" sz="1200" b="1" dirty="0">
                <a:latin typeface="Times New Roman" panose="02020503050405090304"/>
                <a:ea typeface="Times New Roman" panose="02020503050405090304"/>
              </a:rPr>
              <a:t>Numerical simulation</a:t>
            </a:r>
            <a:endParaRPr lang="en-US" altLang="zh-CN" sz="1200" b="1" dirty="0">
              <a:latin typeface="Times New Roman" panose="02020503050405090304"/>
              <a:ea typeface="Times New Roman" panose="02020503050405090304"/>
            </a:endParaRPr>
          </a:p>
        </p:txBody>
      </p:sp>
      <p:sp>
        <p:nvSpPr>
          <p:cNvPr id="62" name="矩形: 圆角 61"/>
          <p:cNvSpPr/>
          <p:nvPr/>
        </p:nvSpPr>
        <p:spPr>
          <a:xfrm>
            <a:off x="4286250" y="4806315"/>
            <a:ext cx="3531235" cy="1815465"/>
          </a:xfrm>
          <a:prstGeom prst="roundRect">
            <a:avLst>
              <a:gd name="adj" fmla="val 4636"/>
            </a:avLst>
          </a:prstGeom>
          <a:noFill/>
          <a:ln w="12700">
            <a:solidFill>
              <a:schemeClr val="bg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右箭头 16"/>
          <p:cNvSpPr/>
          <p:nvPr/>
        </p:nvSpPr>
        <p:spPr>
          <a:xfrm rot="5400000">
            <a:off x="6003945" y="4604965"/>
            <a:ext cx="132758" cy="270700"/>
          </a:xfrm>
          <a:prstGeom prs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 name="文本框 34"/>
          <p:cNvSpPr txBox="1"/>
          <p:nvPr/>
        </p:nvSpPr>
        <p:spPr>
          <a:xfrm>
            <a:off x="4220187" y="114300"/>
            <a:ext cx="3650003" cy="400685"/>
          </a:xfrm>
          <a:prstGeom prst="rect">
            <a:avLst/>
          </a:prstGeom>
          <a:solidFill>
            <a:schemeClr val="accent4">
              <a:lumMod val="75000"/>
            </a:schemeClr>
          </a:solidFill>
          <a:ln>
            <a:noFill/>
          </a:ln>
        </p:spPr>
        <p:txBody>
          <a:bodyPr wrap="square" rtlCol="0">
            <a:noAutofit/>
          </a:bodyPr>
          <a:lstStyle/>
          <a:p>
            <a:pPr algn="ctr"/>
            <a:r>
              <a:rPr lang="en-US" altLang="zh-CN"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rPr>
              <a:t>Research M</a:t>
            </a:r>
            <a:r>
              <a:rPr lang="en-US" altLang="zh-CN" sz="2000"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rPr>
              <a:t>ethods</a:t>
            </a:r>
            <a:endParaRPr lang="en-US" altLang="zh-CN" b="1" dirty="0">
              <a:solidFill>
                <a:schemeClr val="bg1"/>
              </a:solidFill>
              <a:effectLst>
                <a:outerShdw blurRad="38100" dist="38100" dir="2700000" algn="tl">
                  <a:srgbClr val="000000">
                    <a:alpha val="43137"/>
                  </a:srgbClr>
                </a:outerShdw>
              </a:effectLst>
              <a:latin typeface="Times New Roman" panose="02020503050405090304" charset="0"/>
              <a:cs typeface="Times New Roman" panose="02020503050405090304" charset="0"/>
            </a:endParaRPr>
          </a:p>
        </p:txBody>
      </p:sp>
      <p:sp>
        <p:nvSpPr>
          <p:cNvPr id="84" name="右箭头 16"/>
          <p:cNvSpPr/>
          <p:nvPr/>
        </p:nvSpPr>
        <p:spPr>
          <a:xfrm>
            <a:off x="3927701" y="3047822"/>
            <a:ext cx="309050" cy="342443"/>
          </a:xfrm>
          <a:prstGeom prs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5" name="任意多边形: 形状 84"/>
          <p:cNvSpPr/>
          <p:nvPr/>
        </p:nvSpPr>
        <p:spPr>
          <a:xfrm>
            <a:off x="3075940" y="1336040"/>
            <a:ext cx="337820" cy="439420"/>
          </a:xfrm>
          <a:custGeom>
            <a:avLst/>
            <a:gdLst>
              <a:gd name="connsiteX0" fmla="*/ 305406 w 465296"/>
              <a:gd name="connsiteY0" fmla="*/ 372868 h 605663"/>
              <a:gd name="connsiteX1" fmla="*/ 334189 w 465296"/>
              <a:gd name="connsiteY1" fmla="*/ 400590 h 605663"/>
              <a:gd name="connsiteX2" fmla="*/ 377999 w 465296"/>
              <a:gd name="connsiteY2" fmla="*/ 400590 h 605663"/>
              <a:gd name="connsiteX3" fmla="*/ 428517 w 465296"/>
              <a:gd name="connsiteY3" fmla="*/ 422716 h 605663"/>
              <a:gd name="connsiteX4" fmla="*/ 463922 w 465296"/>
              <a:gd name="connsiteY4" fmla="*/ 605663 h 605663"/>
              <a:gd name="connsiteX5" fmla="*/ 2469 w 465296"/>
              <a:gd name="connsiteY5" fmla="*/ 605663 h 605663"/>
              <a:gd name="connsiteX6" fmla="*/ 33628 w 465296"/>
              <a:gd name="connsiteY6" fmla="*/ 424412 h 605663"/>
              <a:gd name="connsiteX7" fmla="*/ 89071 w 465296"/>
              <a:gd name="connsiteY7" fmla="*/ 400251 h 605663"/>
              <a:gd name="connsiteX8" fmla="*/ 134664 w 465296"/>
              <a:gd name="connsiteY8" fmla="*/ 400251 h 605663"/>
              <a:gd name="connsiteX9" fmla="*/ 160305 w 465296"/>
              <a:gd name="connsiteY9" fmla="*/ 375666 h 605663"/>
              <a:gd name="connsiteX10" fmla="*/ 230946 w 465296"/>
              <a:gd name="connsiteY10" fmla="*/ 400251 h 605663"/>
              <a:gd name="connsiteX11" fmla="*/ 305406 w 465296"/>
              <a:gd name="connsiteY11" fmla="*/ 372868 h 605663"/>
              <a:gd name="connsiteX12" fmla="*/ 110867 w 465296"/>
              <a:gd name="connsiteY12" fmla="*/ 206192 h 605663"/>
              <a:gd name="connsiteX13" fmla="*/ 354372 w 465296"/>
              <a:gd name="connsiteY13" fmla="*/ 206192 h 605663"/>
              <a:gd name="connsiteX14" fmla="*/ 368211 w 465296"/>
              <a:gd name="connsiteY14" fmla="*/ 236968 h 605663"/>
              <a:gd name="connsiteX15" fmla="*/ 335353 w 465296"/>
              <a:gd name="connsiteY15" fmla="*/ 274696 h 605663"/>
              <a:gd name="connsiteX16" fmla="*/ 334249 w 465296"/>
              <a:gd name="connsiteY16" fmla="*/ 274696 h 605663"/>
              <a:gd name="connsiteX17" fmla="*/ 301731 w 465296"/>
              <a:gd name="connsiteY17" fmla="*/ 346931 h 605663"/>
              <a:gd name="connsiteX18" fmla="*/ 289930 w 465296"/>
              <a:gd name="connsiteY18" fmla="*/ 357698 h 605663"/>
              <a:gd name="connsiteX19" fmla="*/ 273288 w 465296"/>
              <a:gd name="connsiteY19" fmla="*/ 368381 h 605663"/>
              <a:gd name="connsiteX20" fmla="*/ 229987 w 465296"/>
              <a:gd name="connsiteY20" fmla="*/ 379148 h 605663"/>
              <a:gd name="connsiteX21" fmla="*/ 186687 w 465296"/>
              <a:gd name="connsiteY21" fmla="*/ 368381 h 605663"/>
              <a:gd name="connsiteX22" fmla="*/ 170130 w 465296"/>
              <a:gd name="connsiteY22" fmla="*/ 357698 h 605663"/>
              <a:gd name="connsiteX23" fmla="*/ 158329 w 465296"/>
              <a:gd name="connsiteY23" fmla="*/ 346931 h 605663"/>
              <a:gd name="connsiteX24" fmla="*/ 125386 w 465296"/>
              <a:gd name="connsiteY24" fmla="*/ 274272 h 605663"/>
              <a:gd name="connsiteX25" fmla="*/ 97028 w 465296"/>
              <a:gd name="connsiteY25" fmla="*/ 236968 h 605663"/>
              <a:gd name="connsiteX26" fmla="*/ 110867 w 465296"/>
              <a:gd name="connsiteY26" fmla="*/ 206192 h 605663"/>
              <a:gd name="connsiteX27" fmla="*/ 184092 w 465296"/>
              <a:gd name="connsiteY27" fmla="*/ 42551 h 605663"/>
              <a:gd name="connsiteX28" fmla="*/ 184092 w 465296"/>
              <a:gd name="connsiteY28" fmla="*/ 125550 h 605663"/>
              <a:gd name="connsiteX29" fmla="*/ 184092 w 465296"/>
              <a:gd name="connsiteY29" fmla="*/ 135215 h 605663"/>
              <a:gd name="connsiteX30" fmla="*/ 184431 w 465296"/>
              <a:gd name="connsiteY30" fmla="*/ 139030 h 605663"/>
              <a:gd name="connsiteX31" fmla="*/ 188252 w 465296"/>
              <a:gd name="connsiteY31" fmla="*/ 149458 h 605663"/>
              <a:gd name="connsiteX32" fmla="*/ 211175 w 465296"/>
              <a:gd name="connsiteY32" fmla="*/ 162260 h 605663"/>
              <a:gd name="connsiteX33" fmla="*/ 249210 w 465296"/>
              <a:gd name="connsiteY33" fmla="*/ 162260 h 605663"/>
              <a:gd name="connsiteX34" fmla="*/ 254813 w 465296"/>
              <a:gd name="connsiteY34" fmla="*/ 162260 h 605663"/>
              <a:gd name="connsiteX35" fmla="*/ 278670 w 465296"/>
              <a:gd name="connsiteY35" fmla="*/ 147338 h 605663"/>
              <a:gd name="connsiteX36" fmla="*/ 281472 w 465296"/>
              <a:gd name="connsiteY36" fmla="*/ 136656 h 605663"/>
              <a:gd name="connsiteX37" fmla="*/ 281472 w 465296"/>
              <a:gd name="connsiteY37" fmla="*/ 135215 h 605663"/>
              <a:gd name="connsiteX38" fmla="*/ 281472 w 465296"/>
              <a:gd name="connsiteY38" fmla="*/ 124194 h 605663"/>
              <a:gd name="connsiteX39" fmla="*/ 281472 w 465296"/>
              <a:gd name="connsiteY39" fmla="*/ 42890 h 605663"/>
              <a:gd name="connsiteX40" fmla="*/ 356609 w 465296"/>
              <a:gd name="connsiteY40" fmla="*/ 133519 h 605663"/>
              <a:gd name="connsiteX41" fmla="*/ 359071 w 465296"/>
              <a:gd name="connsiteY41" fmla="*/ 141149 h 605663"/>
              <a:gd name="connsiteX42" fmla="*/ 378513 w 465296"/>
              <a:gd name="connsiteY42" fmla="*/ 141149 h 605663"/>
              <a:gd name="connsiteX43" fmla="*/ 378513 w 465296"/>
              <a:gd name="connsiteY43" fmla="*/ 182268 h 605663"/>
              <a:gd name="connsiteX44" fmla="*/ 378513 w 465296"/>
              <a:gd name="connsiteY44" fmla="*/ 184387 h 605663"/>
              <a:gd name="connsiteX45" fmla="*/ 331309 w 465296"/>
              <a:gd name="connsiteY45" fmla="*/ 184387 h 605663"/>
              <a:gd name="connsiteX46" fmla="*/ 318828 w 465296"/>
              <a:gd name="connsiteY46" fmla="*/ 184387 h 605663"/>
              <a:gd name="connsiteX47" fmla="*/ 151914 w 465296"/>
              <a:gd name="connsiteY47" fmla="*/ 184387 h 605663"/>
              <a:gd name="connsiteX48" fmla="*/ 139095 w 465296"/>
              <a:gd name="connsiteY48" fmla="*/ 184387 h 605663"/>
              <a:gd name="connsiteX49" fmla="*/ 108615 w 465296"/>
              <a:gd name="connsiteY49" fmla="*/ 184387 h 605663"/>
              <a:gd name="connsiteX50" fmla="*/ 86796 w 465296"/>
              <a:gd name="connsiteY50" fmla="*/ 184387 h 605663"/>
              <a:gd name="connsiteX51" fmla="*/ 86796 w 465296"/>
              <a:gd name="connsiteY51" fmla="*/ 141149 h 605663"/>
              <a:gd name="connsiteX52" fmla="*/ 106493 w 465296"/>
              <a:gd name="connsiteY52" fmla="*/ 141149 h 605663"/>
              <a:gd name="connsiteX53" fmla="*/ 108955 w 465296"/>
              <a:gd name="connsiteY53" fmla="*/ 133519 h 605663"/>
              <a:gd name="connsiteX54" fmla="*/ 184092 w 465296"/>
              <a:gd name="connsiteY54" fmla="*/ 42551 h 605663"/>
              <a:gd name="connsiteX55" fmla="*/ 210997 w 465296"/>
              <a:gd name="connsiteY55" fmla="*/ 0 h 605663"/>
              <a:gd name="connsiteX56" fmla="*/ 249131 w 465296"/>
              <a:gd name="connsiteY56" fmla="*/ 0 h 605663"/>
              <a:gd name="connsiteX57" fmla="*/ 269174 w 465296"/>
              <a:gd name="connsiteY57" fmla="*/ 13819 h 605663"/>
              <a:gd name="connsiteX58" fmla="*/ 270618 w 465296"/>
              <a:gd name="connsiteY58" fmla="*/ 21450 h 605663"/>
              <a:gd name="connsiteX59" fmla="*/ 270618 w 465296"/>
              <a:gd name="connsiteY59" fmla="*/ 25943 h 605663"/>
              <a:gd name="connsiteX60" fmla="*/ 270618 w 465296"/>
              <a:gd name="connsiteY60" fmla="*/ 37728 h 605663"/>
              <a:gd name="connsiteX61" fmla="*/ 270618 w 465296"/>
              <a:gd name="connsiteY61" fmla="*/ 119372 h 605663"/>
              <a:gd name="connsiteX62" fmla="*/ 270618 w 465296"/>
              <a:gd name="connsiteY62" fmla="*/ 132174 h 605663"/>
              <a:gd name="connsiteX63" fmla="*/ 270618 w 465296"/>
              <a:gd name="connsiteY63" fmla="*/ 135226 h 605663"/>
              <a:gd name="connsiteX64" fmla="*/ 268495 w 465296"/>
              <a:gd name="connsiteY64" fmla="*/ 142856 h 605663"/>
              <a:gd name="connsiteX65" fmla="*/ 254311 w 465296"/>
              <a:gd name="connsiteY65" fmla="*/ 151504 h 605663"/>
              <a:gd name="connsiteX66" fmla="*/ 210997 w 465296"/>
              <a:gd name="connsiteY66" fmla="*/ 151504 h 605663"/>
              <a:gd name="connsiteX67" fmla="*/ 197493 w 465296"/>
              <a:gd name="connsiteY67" fmla="*/ 144552 h 605663"/>
              <a:gd name="connsiteX68" fmla="*/ 194690 w 465296"/>
              <a:gd name="connsiteY68" fmla="*/ 135226 h 605663"/>
              <a:gd name="connsiteX69" fmla="*/ 194690 w 465296"/>
              <a:gd name="connsiteY69" fmla="*/ 133870 h 605663"/>
              <a:gd name="connsiteX70" fmla="*/ 194690 w 465296"/>
              <a:gd name="connsiteY70" fmla="*/ 120728 h 605663"/>
              <a:gd name="connsiteX71" fmla="*/ 194690 w 465296"/>
              <a:gd name="connsiteY71" fmla="*/ 37728 h 605663"/>
              <a:gd name="connsiteX72" fmla="*/ 194690 w 465296"/>
              <a:gd name="connsiteY72" fmla="*/ 25943 h 605663"/>
              <a:gd name="connsiteX73" fmla="*/ 194690 w 465296"/>
              <a:gd name="connsiteY73" fmla="*/ 16278 h 605663"/>
              <a:gd name="connsiteX74" fmla="*/ 195030 w 465296"/>
              <a:gd name="connsiteY74" fmla="*/ 14158 h 605663"/>
              <a:gd name="connsiteX75" fmla="*/ 210997 w 465296"/>
              <a:gd name="connsiteY75" fmla="*/ 0 h 605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65296" h="605663">
                <a:moveTo>
                  <a:pt x="305406" y="372868"/>
                </a:moveTo>
                <a:lnTo>
                  <a:pt x="334189" y="400590"/>
                </a:lnTo>
                <a:lnTo>
                  <a:pt x="377999" y="400590"/>
                </a:lnTo>
                <a:cubicBezTo>
                  <a:pt x="398801" y="400590"/>
                  <a:pt x="415018" y="407796"/>
                  <a:pt x="428517" y="422716"/>
                </a:cubicBezTo>
                <a:cubicBezTo>
                  <a:pt x="470460" y="469428"/>
                  <a:pt x="466300" y="573872"/>
                  <a:pt x="463922" y="605663"/>
                </a:cubicBezTo>
                <a:lnTo>
                  <a:pt x="2469" y="605663"/>
                </a:lnTo>
                <a:cubicBezTo>
                  <a:pt x="-673" y="574211"/>
                  <a:pt x="-7550" y="472141"/>
                  <a:pt x="33628" y="424412"/>
                </a:cubicBezTo>
                <a:cubicBezTo>
                  <a:pt x="47807" y="408135"/>
                  <a:pt x="65892" y="400251"/>
                  <a:pt x="89071" y="400251"/>
                </a:cubicBezTo>
                <a:lnTo>
                  <a:pt x="134664" y="400251"/>
                </a:lnTo>
                <a:lnTo>
                  <a:pt x="160305" y="375666"/>
                </a:lnTo>
                <a:cubicBezTo>
                  <a:pt x="180343" y="391180"/>
                  <a:pt x="204965" y="400251"/>
                  <a:pt x="230946" y="400251"/>
                </a:cubicBezTo>
                <a:cubicBezTo>
                  <a:pt x="258624" y="400251"/>
                  <a:pt x="284265" y="390162"/>
                  <a:pt x="305406" y="372868"/>
                </a:cubicBezTo>
                <a:close/>
                <a:moveTo>
                  <a:pt x="110867" y="206192"/>
                </a:moveTo>
                <a:lnTo>
                  <a:pt x="354372" y="206192"/>
                </a:lnTo>
                <a:cubicBezTo>
                  <a:pt x="362692" y="213059"/>
                  <a:pt x="368211" y="224166"/>
                  <a:pt x="368211" y="236968"/>
                </a:cubicBezTo>
                <a:cubicBezTo>
                  <a:pt x="368211" y="257740"/>
                  <a:pt x="353692" y="274696"/>
                  <a:pt x="335353" y="274696"/>
                </a:cubicBezTo>
                <a:lnTo>
                  <a:pt x="334249" y="274696"/>
                </a:lnTo>
                <a:cubicBezTo>
                  <a:pt x="331193" y="303353"/>
                  <a:pt x="319052" y="328279"/>
                  <a:pt x="301731" y="346931"/>
                </a:cubicBezTo>
                <a:cubicBezTo>
                  <a:pt x="297911" y="350746"/>
                  <a:pt x="294090" y="354561"/>
                  <a:pt x="289930" y="357698"/>
                </a:cubicBezTo>
                <a:cubicBezTo>
                  <a:pt x="284750" y="361852"/>
                  <a:pt x="279232" y="365244"/>
                  <a:pt x="273288" y="368381"/>
                </a:cubicBezTo>
                <a:cubicBezTo>
                  <a:pt x="260128" y="375333"/>
                  <a:pt x="245610" y="379148"/>
                  <a:pt x="229987" y="379148"/>
                </a:cubicBezTo>
                <a:cubicBezTo>
                  <a:pt x="214450" y="379148"/>
                  <a:pt x="199847" y="375333"/>
                  <a:pt x="186687" y="368381"/>
                </a:cubicBezTo>
                <a:cubicBezTo>
                  <a:pt x="180828" y="365244"/>
                  <a:pt x="175309" y="361852"/>
                  <a:pt x="170130" y="357698"/>
                </a:cubicBezTo>
                <a:cubicBezTo>
                  <a:pt x="165970" y="354561"/>
                  <a:pt x="162149" y="350746"/>
                  <a:pt x="158329" y="346931"/>
                </a:cubicBezTo>
                <a:cubicBezTo>
                  <a:pt x="140669" y="328279"/>
                  <a:pt x="128867" y="303013"/>
                  <a:pt x="125386" y="274272"/>
                </a:cubicBezTo>
                <a:cubicBezTo>
                  <a:pt x="109509" y="271559"/>
                  <a:pt x="97028" y="255959"/>
                  <a:pt x="97028" y="236968"/>
                </a:cubicBezTo>
                <a:cubicBezTo>
                  <a:pt x="97028" y="224166"/>
                  <a:pt x="102547" y="213059"/>
                  <a:pt x="110867" y="206192"/>
                </a:cubicBezTo>
                <a:close/>
                <a:moveTo>
                  <a:pt x="184092" y="42551"/>
                </a:moveTo>
                <a:lnTo>
                  <a:pt x="184092" y="125550"/>
                </a:lnTo>
                <a:lnTo>
                  <a:pt x="184092" y="135215"/>
                </a:lnTo>
                <a:cubicBezTo>
                  <a:pt x="184092" y="136656"/>
                  <a:pt x="184092" y="137674"/>
                  <a:pt x="184431" y="139030"/>
                </a:cubicBezTo>
                <a:cubicBezTo>
                  <a:pt x="185195" y="142845"/>
                  <a:pt x="186214" y="146321"/>
                  <a:pt x="188252" y="149458"/>
                </a:cubicBezTo>
                <a:cubicBezTo>
                  <a:pt x="192751" y="157003"/>
                  <a:pt x="201411" y="162260"/>
                  <a:pt x="211175" y="162260"/>
                </a:cubicBezTo>
                <a:lnTo>
                  <a:pt x="249210" y="162260"/>
                </a:lnTo>
                <a:lnTo>
                  <a:pt x="254813" y="162260"/>
                </a:lnTo>
                <a:cubicBezTo>
                  <a:pt x="265171" y="162260"/>
                  <a:pt x="274171" y="155986"/>
                  <a:pt x="278670" y="147338"/>
                </a:cubicBezTo>
                <a:cubicBezTo>
                  <a:pt x="280453" y="143862"/>
                  <a:pt x="281133" y="140386"/>
                  <a:pt x="281472" y="136656"/>
                </a:cubicBezTo>
                <a:lnTo>
                  <a:pt x="281472" y="135215"/>
                </a:lnTo>
                <a:lnTo>
                  <a:pt x="281472" y="124194"/>
                </a:lnTo>
                <a:lnTo>
                  <a:pt x="281472" y="42890"/>
                </a:lnTo>
                <a:cubicBezTo>
                  <a:pt x="317470" y="61542"/>
                  <a:pt x="345911" y="97912"/>
                  <a:pt x="356609" y="133519"/>
                </a:cubicBezTo>
                <a:lnTo>
                  <a:pt x="359071" y="141149"/>
                </a:lnTo>
                <a:lnTo>
                  <a:pt x="378513" y="141149"/>
                </a:lnTo>
                <a:lnTo>
                  <a:pt x="378513" y="182268"/>
                </a:lnTo>
                <a:lnTo>
                  <a:pt x="378513" y="184387"/>
                </a:lnTo>
                <a:lnTo>
                  <a:pt x="331309" y="184387"/>
                </a:lnTo>
                <a:lnTo>
                  <a:pt x="318828" y="184387"/>
                </a:lnTo>
                <a:lnTo>
                  <a:pt x="151914" y="184387"/>
                </a:lnTo>
                <a:lnTo>
                  <a:pt x="139095" y="184387"/>
                </a:lnTo>
                <a:lnTo>
                  <a:pt x="108615" y="184387"/>
                </a:lnTo>
                <a:lnTo>
                  <a:pt x="86796" y="184387"/>
                </a:lnTo>
                <a:lnTo>
                  <a:pt x="86796" y="141149"/>
                </a:lnTo>
                <a:lnTo>
                  <a:pt x="106493" y="141149"/>
                </a:lnTo>
                <a:lnTo>
                  <a:pt x="108955" y="133519"/>
                </a:lnTo>
                <a:cubicBezTo>
                  <a:pt x="119652" y="97912"/>
                  <a:pt x="148094" y="61542"/>
                  <a:pt x="184092" y="42551"/>
                </a:cubicBezTo>
                <a:close/>
                <a:moveTo>
                  <a:pt x="210997" y="0"/>
                </a:moveTo>
                <a:lnTo>
                  <a:pt x="249131" y="0"/>
                </a:lnTo>
                <a:cubicBezTo>
                  <a:pt x="258133" y="0"/>
                  <a:pt x="266117" y="5850"/>
                  <a:pt x="269174" y="13819"/>
                </a:cubicBezTo>
                <a:cubicBezTo>
                  <a:pt x="269939" y="16278"/>
                  <a:pt x="270618" y="18652"/>
                  <a:pt x="270618" y="21450"/>
                </a:cubicBezTo>
                <a:lnTo>
                  <a:pt x="270618" y="25943"/>
                </a:lnTo>
                <a:lnTo>
                  <a:pt x="270618" y="37728"/>
                </a:lnTo>
                <a:lnTo>
                  <a:pt x="270618" y="119372"/>
                </a:lnTo>
                <a:lnTo>
                  <a:pt x="270618" y="132174"/>
                </a:lnTo>
                <a:lnTo>
                  <a:pt x="270618" y="135226"/>
                </a:lnTo>
                <a:cubicBezTo>
                  <a:pt x="270618" y="138024"/>
                  <a:pt x="269939" y="140398"/>
                  <a:pt x="268495" y="142856"/>
                </a:cubicBezTo>
                <a:cubicBezTo>
                  <a:pt x="265777" y="148028"/>
                  <a:pt x="260511" y="151504"/>
                  <a:pt x="254311" y="151504"/>
                </a:cubicBezTo>
                <a:lnTo>
                  <a:pt x="210997" y="151504"/>
                </a:lnTo>
                <a:cubicBezTo>
                  <a:pt x="205476" y="151504"/>
                  <a:pt x="200635" y="148706"/>
                  <a:pt x="197493" y="144552"/>
                </a:cubicBezTo>
                <a:cubicBezTo>
                  <a:pt x="195794" y="141839"/>
                  <a:pt x="194690" y="138702"/>
                  <a:pt x="194690" y="135226"/>
                </a:cubicBezTo>
                <a:lnTo>
                  <a:pt x="194690" y="133870"/>
                </a:lnTo>
                <a:lnTo>
                  <a:pt x="194690" y="120728"/>
                </a:lnTo>
                <a:lnTo>
                  <a:pt x="194690" y="37728"/>
                </a:lnTo>
                <a:lnTo>
                  <a:pt x="194690" y="25943"/>
                </a:lnTo>
                <a:lnTo>
                  <a:pt x="194690" y="16278"/>
                </a:lnTo>
                <a:cubicBezTo>
                  <a:pt x="194690" y="15600"/>
                  <a:pt x="195030" y="14837"/>
                  <a:pt x="195030" y="14158"/>
                </a:cubicBezTo>
                <a:cubicBezTo>
                  <a:pt x="195794" y="6189"/>
                  <a:pt x="202673" y="0"/>
                  <a:pt x="210997"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任意多边形: 形状 86"/>
          <p:cNvSpPr/>
          <p:nvPr/>
        </p:nvSpPr>
        <p:spPr>
          <a:xfrm>
            <a:off x="694690" y="1391285"/>
            <a:ext cx="439420" cy="434340"/>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 name="connsiteX78" fmla="*/ 121763 h 600884"/>
              <a:gd name="connsiteY78" fmla="*/ 121763 h 600884"/>
              <a:gd name="connsiteX79" fmla="*/ 121763 h 600884"/>
              <a:gd name="connsiteY79" fmla="*/ 121763 h 600884"/>
              <a:gd name="connsiteX80" fmla="*/ 121763 h 600884"/>
              <a:gd name="connsiteY80" fmla="*/ 121763 h 600884"/>
              <a:gd name="connsiteX81" fmla="*/ 121763 h 600884"/>
              <a:gd name="connsiteY81" fmla="*/ 121763 h 600884"/>
              <a:gd name="connsiteX82" fmla="*/ 121763 h 600884"/>
              <a:gd name="connsiteY82" fmla="*/ 121763 h 600884"/>
              <a:gd name="connsiteX83" fmla="*/ 121763 h 600884"/>
              <a:gd name="connsiteY83" fmla="*/ 121763 h 600884"/>
              <a:gd name="connsiteX84" fmla="*/ 121763 h 600884"/>
              <a:gd name="connsiteY84" fmla="*/ 121763 h 600884"/>
              <a:gd name="connsiteX85" fmla="*/ 121763 h 600884"/>
              <a:gd name="connsiteY85" fmla="*/ 121763 h 600884"/>
              <a:gd name="connsiteX86" fmla="*/ 121763 h 600884"/>
              <a:gd name="connsiteY86" fmla="*/ 121763 h 600884"/>
              <a:gd name="connsiteX87" fmla="*/ 121763 h 600884"/>
              <a:gd name="connsiteY87" fmla="*/ 121763 h 600884"/>
              <a:gd name="connsiteX88" fmla="*/ 121763 h 600884"/>
              <a:gd name="connsiteY88" fmla="*/ 121763 h 600884"/>
              <a:gd name="connsiteX89" fmla="*/ 121763 h 600884"/>
              <a:gd name="connsiteY89" fmla="*/ 121763 h 600884"/>
              <a:gd name="connsiteX90" fmla="*/ 121763 h 600884"/>
              <a:gd name="connsiteY90" fmla="*/ 121763 h 600884"/>
              <a:gd name="connsiteX91" fmla="*/ 121763 h 600884"/>
              <a:gd name="connsiteY91" fmla="*/ 121763 h 600884"/>
              <a:gd name="connsiteX92" fmla="*/ 121763 h 600884"/>
              <a:gd name="connsiteY92" fmla="*/ 121763 h 600884"/>
              <a:gd name="connsiteX93" fmla="*/ 121763 h 600884"/>
              <a:gd name="connsiteY93" fmla="*/ 121763 h 600884"/>
              <a:gd name="connsiteX94" fmla="*/ 121763 h 600884"/>
              <a:gd name="connsiteY94" fmla="*/ 121763 h 600884"/>
              <a:gd name="connsiteX95" fmla="*/ 121763 h 600884"/>
              <a:gd name="connsiteY95" fmla="*/ 121763 h 600884"/>
              <a:gd name="connsiteX96" fmla="*/ 121763 h 600884"/>
              <a:gd name="connsiteY96" fmla="*/ 121763 h 600884"/>
              <a:gd name="connsiteX97" fmla="*/ 121763 h 600884"/>
              <a:gd name="connsiteY97" fmla="*/ 121763 h 600884"/>
              <a:gd name="connsiteX98" fmla="*/ 121763 h 600884"/>
              <a:gd name="connsiteY98" fmla="*/ 121763 h 600884"/>
              <a:gd name="connsiteX99" fmla="*/ 121763 h 600884"/>
              <a:gd name="connsiteY99" fmla="*/ 121763 h 600884"/>
              <a:gd name="connsiteX100" fmla="*/ 121763 h 600884"/>
              <a:gd name="connsiteY100" fmla="*/ 121763 h 600884"/>
              <a:gd name="connsiteX101" fmla="*/ 121763 h 600884"/>
              <a:gd name="connsiteY101" fmla="*/ 121763 h 600884"/>
              <a:gd name="connsiteX102" fmla="*/ 121763 h 600884"/>
              <a:gd name="connsiteY102" fmla="*/ 121763 h 600884"/>
              <a:gd name="connsiteX103" fmla="*/ 121763 h 600884"/>
              <a:gd name="connsiteY103" fmla="*/ 121763 h 600884"/>
              <a:gd name="connsiteX104" fmla="*/ 121763 h 600884"/>
              <a:gd name="connsiteY104" fmla="*/ 121763 h 600884"/>
              <a:gd name="connsiteX105" fmla="*/ 121763 h 600884"/>
              <a:gd name="connsiteY105" fmla="*/ 121763 h 600884"/>
              <a:gd name="connsiteX106" fmla="*/ 121763 h 600884"/>
              <a:gd name="connsiteY106" fmla="*/ 121763 h 600884"/>
              <a:gd name="connsiteX107" fmla="*/ 121763 h 600884"/>
              <a:gd name="connsiteY107" fmla="*/ 121763 h 600884"/>
              <a:gd name="connsiteX108" fmla="*/ 121763 h 600884"/>
              <a:gd name="connsiteY108" fmla="*/ 121763 h 600884"/>
              <a:gd name="connsiteX109" fmla="*/ 121763 h 600884"/>
              <a:gd name="connsiteY109" fmla="*/ 121763 h 600884"/>
              <a:gd name="connsiteX110" fmla="*/ 121763 h 600884"/>
              <a:gd name="connsiteY110" fmla="*/ 121763 h 600884"/>
              <a:gd name="connsiteX111" fmla="*/ 121763 h 600884"/>
              <a:gd name="connsiteY111" fmla="*/ 121763 h 600884"/>
              <a:gd name="connsiteX112" fmla="*/ 121763 h 600884"/>
              <a:gd name="connsiteY112" fmla="*/ 121763 h 600884"/>
              <a:gd name="connsiteX113" fmla="*/ 121763 h 600884"/>
              <a:gd name="connsiteY113" fmla="*/ 121763 h 600884"/>
              <a:gd name="connsiteX114" fmla="*/ 121763 h 600884"/>
              <a:gd name="connsiteY114" fmla="*/ 121763 h 600884"/>
              <a:gd name="connsiteX115" fmla="*/ 121763 h 600884"/>
              <a:gd name="connsiteY115" fmla="*/ 121763 h 600884"/>
              <a:gd name="connsiteX116" fmla="*/ 121763 h 600884"/>
              <a:gd name="connsiteY116" fmla="*/ 121763 h 600884"/>
              <a:gd name="connsiteX117" fmla="*/ 121763 h 600884"/>
              <a:gd name="connsiteY117" fmla="*/ 121763 h 600884"/>
              <a:gd name="connsiteX118" fmla="*/ 121763 h 600884"/>
              <a:gd name="connsiteY118" fmla="*/ 121763 h 600884"/>
              <a:gd name="connsiteX119" fmla="*/ 121763 h 600884"/>
              <a:gd name="connsiteY119" fmla="*/ 121763 h 600884"/>
              <a:gd name="connsiteX120" fmla="*/ 121763 h 600884"/>
              <a:gd name="connsiteY120" fmla="*/ 121763 h 600884"/>
              <a:gd name="connsiteX121" fmla="*/ 121763 h 600884"/>
              <a:gd name="connsiteY121" fmla="*/ 121763 h 600884"/>
              <a:gd name="connsiteX122" fmla="*/ 121763 h 600884"/>
              <a:gd name="connsiteY122" fmla="*/ 121763 h 600884"/>
              <a:gd name="connsiteX123" fmla="*/ 121763 h 600884"/>
              <a:gd name="connsiteY123" fmla="*/ 121763 h 600884"/>
              <a:gd name="connsiteX124" fmla="*/ 121763 h 600884"/>
              <a:gd name="connsiteY124" fmla="*/ 121763 h 600884"/>
              <a:gd name="connsiteX125" fmla="*/ 121763 h 600884"/>
              <a:gd name="connsiteY125" fmla="*/ 121763 h 600884"/>
              <a:gd name="connsiteX126" fmla="*/ 121763 h 600884"/>
              <a:gd name="connsiteY126" fmla="*/ 121763 h 600884"/>
              <a:gd name="connsiteX127" fmla="*/ 121763 h 600884"/>
              <a:gd name="connsiteY127" fmla="*/ 121763 h 600884"/>
              <a:gd name="connsiteX128" fmla="*/ 121763 h 600884"/>
              <a:gd name="connsiteY128" fmla="*/ 121763 h 600884"/>
              <a:gd name="connsiteX129" fmla="*/ 121763 h 600884"/>
              <a:gd name="connsiteY129" fmla="*/ 121763 h 600884"/>
              <a:gd name="connsiteX130" fmla="*/ 121763 h 600884"/>
              <a:gd name="connsiteY130" fmla="*/ 121763 h 600884"/>
              <a:gd name="connsiteX131" fmla="*/ 121763 h 600884"/>
              <a:gd name="connsiteY131" fmla="*/ 121763 h 600884"/>
              <a:gd name="connsiteX132" fmla="*/ 121763 h 600884"/>
              <a:gd name="connsiteY132" fmla="*/ 121763 h 600884"/>
              <a:gd name="connsiteX133" fmla="*/ 121763 h 600884"/>
              <a:gd name="connsiteY133" fmla="*/ 121763 h 600884"/>
              <a:gd name="connsiteX134" fmla="*/ 121763 h 600884"/>
              <a:gd name="connsiteY134" fmla="*/ 121763 h 600884"/>
              <a:gd name="connsiteX135" fmla="*/ 121763 h 600884"/>
              <a:gd name="connsiteY135" fmla="*/ 121763 h 600884"/>
              <a:gd name="connsiteX136" fmla="*/ 121763 h 600884"/>
              <a:gd name="connsiteY136" fmla="*/ 121763 h 600884"/>
              <a:gd name="connsiteX137" fmla="*/ 121763 h 600884"/>
              <a:gd name="connsiteY137" fmla="*/ 121763 h 600884"/>
              <a:gd name="connsiteX138" fmla="*/ 121763 h 600884"/>
              <a:gd name="connsiteY138" fmla="*/ 121763 h 600884"/>
              <a:gd name="connsiteX139" fmla="*/ 121763 h 600884"/>
              <a:gd name="connsiteY139" fmla="*/ 121763 h 600884"/>
              <a:gd name="connsiteX140" fmla="*/ 121763 h 600884"/>
              <a:gd name="connsiteY140" fmla="*/ 121763 h 600884"/>
              <a:gd name="connsiteX141" fmla="*/ 121763 h 600884"/>
              <a:gd name="connsiteY141" fmla="*/ 121763 h 600884"/>
              <a:gd name="connsiteX142" fmla="*/ 121763 h 600884"/>
              <a:gd name="connsiteY142" fmla="*/ 121763 h 600884"/>
              <a:gd name="connsiteX143" fmla="*/ 121763 h 600884"/>
              <a:gd name="connsiteY143" fmla="*/ 121763 h 600884"/>
              <a:gd name="connsiteX144" fmla="*/ 121763 h 600884"/>
              <a:gd name="connsiteY144" fmla="*/ 121763 h 600884"/>
              <a:gd name="connsiteX145" fmla="*/ 121763 h 600884"/>
              <a:gd name="connsiteY145" fmla="*/ 121763 h 600884"/>
              <a:gd name="connsiteX146" fmla="*/ 121763 h 600884"/>
              <a:gd name="connsiteY146" fmla="*/ 121763 h 600884"/>
              <a:gd name="connsiteX147" fmla="*/ 121763 h 600884"/>
              <a:gd name="connsiteY147" fmla="*/ 121763 h 600884"/>
              <a:gd name="connsiteX148" fmla="*/ 121763 h 600884"/>
              <a:gd name="connsiteY148" fmla="*/ 121763 h 600884"/>
              <a:gd name="connsiteX149" fmla="*/ 121763 h 600884"/>
              <a:gd name="connsiteY149" fmla="*/ 121763 h 600884"/>
              <a:gd name="connsiteX150" fmla="*/ 121763 h 600884"/>
              <a:gd name="connsiteY150" fmla="*/ 121763 h 600884"/>
              <a:gd name="connsiteX151" fmla="*/ 121763 h 600884"/>
              <a:gd name="connsiteY151" fmla="*/ 121763 h 600884"/>
              <a:gd name="connsiteX152" fmla="*/ 121763 h 600884"/>
              <a:gd name="connsiteY152" fmla="*/ 121763 h 600884"/>
              <a:gd name="connsiteX153" fmla="*/ 121763 h 600884"/>
              <a:gd name="connsiteY153" fmla="*/ 121763 h 600884"/>
              <a:gd name="connsiteX154" fmla="*/ 121763 h 600884"/>
              <a:gd name="connsiteY154" fmla="*/ 121763 h 600884"/>
              <a:gd name="connsiteX155" fmla="*/ 121763 h 600884"/>
              <a:gd name="connsiteY155" fmla="*/ 121763 h 600884"/>
              <a:gd name="connsiteX156" fmla="*/ 121763 h 600884"/>
              <a:gd name="connsiteY156" fmla="*/ 121763 h 600884"/>
              <a:gd name="connsiteX157" fmla="*/ 121763 h 600884"/>
              <a:gd name="connsiteY157" fmla="*/ 121763 h 600884"/>
              <a:gd name="connsiteX158" fmla="*/ 121763 h 600884"/>
              <a:gd name="connsiteY158" fmla="*/ 121763 h 600884"/>
              <a:gd name="connsiteX159" fmla="*/ 121763 h 600884"/>
              <a:gd name="connsiteY159" fmla="*/ 121763 h 600884"/>
              <a:gd name="connsiteX160" fmla="*/ 121763 h 600884"/>
              <a:gd name="connsiteY160" fmla="*/ 121763 h 600884"/>
              <a:gd name="connsiteX161" fmla="*/ 121763 h 600884"/>
              <a:gd name="connsiteY161" fmla="*/ 121763 h 600884"/>
              <a:gd name="connsiteX162" fmla="*/ 121763 h 600884"/>
              <a:gd name="connsiteY162" fmla="*/ 121763 h 600884"/>
              <a:gd name="connsiteX163" fmla="*/ 121763 h 600884"/>
              <a:gd name="connsiteY163" fmla="*/ 121763 h 600884"/>
              <a:gd name="connsiteX164" fmla="*/ 121763 h 600884"/>
              <a:gd name="connsiteY164" fmla="*/ 121763 h 600884"/>
              <a:gd name="connsiteX165" fmla="*/ 121763 h 600884"/>
              <a:gd name="connsiteY165" fmla="*/ 121763 h 600884"/>
              <a:gd name="connsiteX166" fmla="*/ 121763 h 600884"/>
              <a:gd name="connsiteY166" fmla="*/ 121763 h 600884"/>
              <a:gd name="connsiteX167" fmla="*/ 121763 h 600884"/>
              <a:gd name="connsiteY167" fmla="*/ 121763 h 600884"/>
              <a:gd name="connsiteX168" fmla="*/ 121763 h 600884"/>
              <a:gd name="connsiteY168" fmla="*/ 121763 h 600884"/>
              <a:gd name="connsiteX169" fmla="*/ 121763 h 600884"/>
              <a:gd name="connsiteY169" fmla="*/ 121763 h 600884"/>
              <a:gd name="connsiteX170" fmla="*/ 121763 h 600884"/>
              <a:gd name="connsiteY170" fmla="*/ 121763 h 600884"/>
              <a:gd name="connsiteX171" fmla="*/ 121763 h 600884"/>
              <a:gd name="connsiteY171" fmla="*/ 121763 h 600884"/>
              <a:gd name="connsiteX172" fmla="*/ 121763 h 600884"/>
              <a:gd name="connsiteY172" fmla="*/ 121763 h 600884"/>
              <a:gd name="connsiteX173" fmla="*/ 121763 h 600884"/>
              <a:gd name="connsiteY173" fmla="*/ 121763 h 600884"/>
              <a:gd name="connsiteX174" fmla="*/ 121763 h 600884"/>
              <a:gd name="connsiteY174" fmla="*/ 121763 h 600884"/>
              <a:gd name="connsiteX175" fmla="*/ 121763 h 600884"/>
              <a:gd name="connsiteY175" fmla="*/ 121763 h 600884"/>
              <a:gd name="connsiteX176" fmla="*/ 121763 h 600884"/>
              <a:gd name="connsiteY176" fmla="*/ 121763 h 600884"/>
              <a:gd name="connsiteX177" fmla="*/ 121763 h 600884"/>
              <a:gd name="connsiteY177" fmla="*/ 121763 h 600884"/>
              <a:gd name="connsiteX178" fmla="*/ 121763 h 600884"/>
              <a:gd name="connsiteY178" fmla="*/ 121763 h 600884"/>
              <a:gd name="connsiteX179" fmla="*/ 121763 h 600884"/>
              <a:gd name="connsiteY179" fmla="*/ 121763 h 600884"/>
              <a:gd name="connsiteX180" fmla="*/ 121763 h 600884"/>
              <a:gd name="connsiteY180" fmla="*/ 121763 h 600884"/>
              <a:gd name="connsiteX181" fmla="*/ 121763 h 600884"/>
              <a:gd name="connsiteY181" fmla="*/ 121763 h 600884"/>
              <a:gd name="connsiteX182" fmla="*/ 121763 h 600884"/>
              <a:gd name="connsiteY182" fmla="*/ 121763 h 600884"/>
              <a:gd name="connsiteX183" fmla="*/ 121763 h 600884"/>
              <a:gd name="connsiteY183" fmla="*/ 121763 h 600884"/>
              <a:gd name="connsiteX184" fmla="*/ 121763 h 600884"/>
              <a:gd name="connsiteY184" fmla="*/ 121763 h 600884"/>
              <a:gd name="connsiteX185" fmla="*/ 121763 h 600884"/>
              <a:gd name="connsiteY185" fmla="*/ 121763 h 600884"/>
              <a:gd name="connsiteX186" fmla="*/ 121763 h 600884"/>
              <a:gd name="connsiteY186" fmla="*/ 121763 h 600884"/>
              <a:gd name="connsiteX187" fmla="*/ 121763 h 600884"/>
              <a:gd name="connsiteY187" fmla="*/ 121763 h 600884"/>
              <a:gd name="connsiteX188" fmla="*/ 121763 h 600884"/>
              <a:gd name="connsiteY188" fmla="*/ 121763 h 600884"/>
              <a:gd name="connsiteX189" fmla="*/ 121763 h 600884"/>
              <a:gd name="connsiteY189" fmla="*/ 121763 h 600884"/>
              <a:gd name="connsiteX190" fmla="*/ 121763 h 600884"/>
              <a:gd name="connsiteY190" fmla="*/ 121763 h 600884"/>
              <a:gd name="connsiteX191" fmla="*/ 121763 h 600884"/>
              <a:gd name="connsiteY191" fmla="*/ 121763 h 600884"/>
              <a:gd name="connsiteX192" fmla="*/ 121763 h 600884"/>
              <a:gd name="connsiteY192" fmla="*/ 121763 h 600884"/>
              <a:gd name="connsiteX193" fmla="*/ 121763 h 600884"/>
              <a:gd name="connsiteY193" fmla="*/ 121763 h 600884"/>
              <a:gd name="connsiteX194" fmla="*/ 121763 h 600884"/>
              <a:gd name="connsiteY194" fmla="*/ 121763 h 600884"/>
              <a:gd name="connsiteX195" fmla="*/ 121763 h 600884"/>
              <a:gd name="connsiteY195" fmla="*/ 121763 h 600884"/>
              <a:gd name="connsiteX196" fmla="*/ 121763 h 600884"/>
              <a:gd name="connsiteY196" fmla="*/ 121763 h 600884"/>
              <a:gd name="connsiteX197" fmla="*/ 121763 h 600884"/>
              <a:gd name="connsiteY197" fmla="*/ 121763 h 600884"/>
              <a:gd name="connsiteX198" fmla="*/ 121763 h 600884"/>
              <a:gd name="connsiteY198" fmla="*/ 121763 h 600884"/>
              <a:gd name="connsiteX199" fmla="*/ 121763 h 600884"/>
              <a:gd name="connsiteY199" fmla="*/ 121763 h 600884"/>
              <a:gd name="connsiteX200" fmla="*/ 121763 h 600884"/>
              <a:gd name="connsiteY200" fmla="*/ 121763 h 600884"/>
              <a:gd name="connsiteX201" fmla="*/ 121763 h 600884"/>
              <a:gd name="connsiteY201" fmla="*/ 121763 h 600884"/>
              <a:gd name="connsiteX202" fmla="*/ 121763 h 600884"/>
              <a:gd name="connsiteY202" fmla="*/ 121763 h 600884"/>
              <a:gd name="connsiteX203" fmla="*/ 121763 h 600884"/>
              <a:gd name="connsiteY203" fmla="*/ 121763 h 600884"/>
              <a:gd name="connsiteX204" fmla="*/ 121763 h 600884"/>
              <a:gd name="connsiteY204" fmla="*/ 121763 h 600884"/>
              <a:gd name="connsiteX205" fmla="*/ 121763 h 600884"/>
              <a:gd name="connsiteY205" fmla="*/ 121763 h 600884"/>
              <a:gd name="connsiteX206" fmla="*/ 121763 h 600884"/>
              <a:gd name="connsiteY206"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605522" h="598465">
                <a:moveTo>
                  <a:pt x="515949" y="487412"/>
                </a:moveTo>
                <a:lnTo>
                  <a:pt x="515949" y="579925"/>
                </a:lnTo>
                <a:lnTo>
                  <a:pt x="534427" y="579925"/>
                </a:lnTo>
                <a:lnTo>
                  <a:pt x="534427" y="487412"/>
                </a:lnTo>
                <a:close/>
                <a:moveTo>
                  <a:pt x="71002" y="487412"/>
                </a:moveTo>
                <a:lnTo>
                  <a:pt x="71002" y="579925"/>
                </a:lnTo>
                <a:lnTo>
                  <a:pt x="89572" y="579925"/>
                </a:lnTo>
                <a:lnTo>
                  <a:pt x="89572" y="487412"/>
                </a:lnTo>
                <a:close/>
                <a:moveTo>
                  <a:pt x="537567" y="431790"/>
                </a:moveTo>
                <a:lnTo>
                  <a:pt x="562265" y="431790"/>
                </a:lnTo>
                <a:lnTo>
                  <a:pt x="562265" y="450349"/>
                </a:lnTo>
                <a:lnTo>
                  <a:pt x="537567" y="450349"/>
                </a:lnTo>
                <a:close/>
                <a:moveTo>
                  <a:pt x="438705" y="431790"/>
                </a:moveTo>
                <a:lnTo>
                  <a:pt x="463403" y="431790"/>
                </a:lnTo>
                <a:lnTo>
                  <a:pt x="463403" y="450349"/>
                </a:lnTo>
                <a:lnTo>
                  <a:pt x="438705" y="450349"/>
                </a:lnTo>
                <a:close/>
                <a:moveTo>
                  <a:pt x="339843" y="431790"/>
                </a:moveTo>
                <a:lnTo>
                  <a:pt x="364541" y="431790"/>
                </a:lnTo>
                <a:lnTo>
                  <a:pt x="364541" y="450349"/>
                </a:lnTo>
                <a:lnTo>
                  <a:pt x="339843" y="450349"/>
                </a:lnTo>
                <a:close/>
                <a:moveTo>
                  <a:pt x="240910" y="431790"/>
                </a:moveTo>
                <a:lnTo>
                  <a:pt x="265749" y="431790"/>
                </a:lnTo>
                <a:lnTo>
                  <a:pt x="265749" y="450349"/>
                </a:lnTo>
                <a:lnTo>
                  <a:pt x="240910" y="450349"/>
                </a:lnTo>
                <a:close/>
                <a:moveTo>
                  <a:pt x="142119" y="431790"/>
                </a:moveTo>
                <a:lnTo>
                  <a:pt x="166817" y="431790"/>
                </a:lnTo>
                <a:lnTo>
                  <a:pt x="166817" y="450349"/>
                </a:lnTo>
                <a:lnTo>
                  <a:pt x="142119" y="450349"/>
                </a:lnTo>
                <a:close/>
                <a:moveTo>
                  <a:pt x="43257" y="431790"/>
                </a:moveTo>
                <a:lnTo>
                  <a:pt x="67955" y="431790"/>
                </a:lnTo>
                <a:lnTo>
                  <a:pt x="67955" y="450349"/>
                </a:lnTo>
                <a:lnTo>
                  <a:pt x="43257" y="450349"/>
                </a:lnTo>
                <a:close/>
                <a:moveTo>
                  <a:pt x="21605" y="413347"/>
                </a:moveTo>
                <a:lnTo>
                  <a:pt x="21605" y="453485"/>
                </a:lnTo>
                <a:cubicBezTo>
                  <a:pt x="21605" y="461920"/>
                  <a:pt x="28569" y="468873"/>
                  <a:pt x="37018" y="468873"/>
                </a:cubicBezTo>
                <a:lnTo>
                  <a:pt x="568411" y="468873"/>
                </a:lnTo>
                <a:cubicBezTo>
                  <a:pt x="576953" y="468873"/>
                  <a:pt x="583917" y="461920"/>
                  <a:pt x="583917" y="453485"/>
                </a:cubicBezTo>
                <a:lnTo>
                  <a:pt x="583917" y="413347"/>
                </a:lnTo>
                <a:lnTo>
                  <a:pt x="509728" y="413347"/>
                </a:lnTo>
                <a:lnTo>
                  <a:pt x="509728" y="453485"/>
                </a:lnTo>
                <a:lnTo>
                  <a:pt x="491158" y="453485"/>
                </a:lnTo>
                <a:lnTo>
                  <a:pt x="491158" y="413347"/>
                </a:lnTo>
                <a:lnTo>
                  <a:pt x="410933" y="413347"/>
                </a:lnTo>
                <a:lnTo>
                  <a:pt x="410933" y="453485"/>
                </a:lnTo>
                <a:lnTo>
                  <a:pt x="392363" y="453485"/>
                </a:lnTo>
                <a:lnTo>
                  <a:pt x="392363" y="413347"/>
                </a:lnTo>
                <a:lnTo>
                  <a:pt x="312046" y="413347"/>
                </a:lnTo>
                <a:lnTo>
                  <a:pt x="312046" y="453485"/>
                </a:lnTo>
                <a:lnTo>
                  <a:pt x="293476" y="453485"/>
                </a:lnTo>
                <a:lnTo>
                  <a:pt x="293476" y="413347"/>
                </a:lnTo>
                <a:lnTo>
                  <a:pt x="213158" y="413347"/>
                </a:lnTo>
                <a:lnTo>
                  <a:pt x="213158" y="453485"/>
                </a:lnTo>
                <a:lnTo>
                  <a:pt x="194588" y="453485"/>
                </a:lnTo>
                <a:lnTo>
                  <a:pt x="194588" y="413347"/>
                </a:lnTo>
                <a:lnTo>
                  <a:pt x="114271" y="413347"/>
                </a:lnTo>
                <a:lnTo>
                  <a:pt x="114271" y="453485"/>
                </a:lnTo>
                <a:lnTo>
                  <a:pt x="95701" y="453485"/>
                </a:lnTo>
                <a:lnTo>
                  <a:pt x="95701" y="413347"/>
                </a:lnTo>
                <a:close/>
                <a:moveTo>
                  <a:pt x="21605" y="370149"/>
                </a:moveTo>
                <a:lnTo>
                  <a:pt x="21605" y="394807"/>
                </a:lnTo>
                <a:lnTo>
                  <a:pt x="583917" y="394807"/>
                </a:lnTo>
                <a:lnTo>
                  <a:pt x="583917" y="370149"/>
                </a:lnTo>
                <a:lnTo>
                  <a:pt x="580760" y="370149"/>
                </a:lnTo>
                <a:lnTo>
                  <a:pt x="24669" y="370149"/>
                </a:lnTo>
                <a:close/>
                <a:moveTo>
                  <a:pt x="485029" y="259097"/>
                </a:moveTo>
                <a:lnTo>
                  <a:pt x="485029" y="302294"/>
                </a:lnTo>
                <a:lnTo>
                  <a:pt x="515949" y="302294"/>
                </a:lnTo>
                <a:lnTo>
                  <a:pt x="515949" y="259097"/>
                </a:lnTo>
                <a:close/>
                <a:moveTo>
                  <a:pt x="429411" y="259097"/>
                </a:moveTo>
                <a:lnTo>
                  <a:pt x="429411" y="351610"/>
                </a:lnTo>
                <a:lnTo>
                  <a:pt x="571567" y="351610"/>
                </a:lnTo>
                <a:lnTo>
                  <a:pt x="571567" y="259097"/>
                </a:lnTo>
                <a:lnTo>
                  <a:pt x="534519" y="259097"/>
                </a:lnTo>
                <a:lnTo>
                  <a:pt x="534519" y="320834"/>
                </a:lnTo>
                <a:lnTo>
                  <a:pt x="466459" y="320834"/>
                </a:lnTo>
                <a:lnTo>
                  <a:pt x="466459" y="259097"/>
                </a:lnTo>
                <a:close/>
                <a:moveTo>
                  <a:pt x="287347" y="259097"/>
                </a:moveTo>
                <a:lnTo>
                  <a:pt x="287347" y="302294"/>
                </a:lnTo>
                <a:lnTo>
                  <a:pt x="318174" y="302294"/>
                </a:lnTo>
                <a:lnTo>
                  <a:pt x="318174" y="259097"/>
                </a:lnTo>
                <a:close/>
                <a:moveTo>
                  <a:pt x="231729" y="259097"/>
                </a:moveTo>
                <a:lnTo>
                  <a:pt x="231729" y="351610"/>
                </a:lnTo>
                <a:lnTo>
                  <a:pt x="373793" y="351610"/>
                </a:lnTo>
                <a:lnTo>
                  <a:pt x="373793" y="259097"/>
                </a:lnTo>
                <a:lnTo>
                  <a:pt x="336745" y="259097"/>
                </a:lnTo>
                <a:lnTo>
                  <a:pt x="336745" y="320834"/>
                </a:lnTo>
                <a:lnTo>
                  <a:pt x="268777" y="320834"/>
                </a:lnTo>
                <a:lnTo>
                  <a:pt x="268777" y="259097"/>
                </a:lnTo>
                <a:close/>
                <a:moveTo>
                  <a:pt x="89572" y="259097"/>
                </a:moveTo>
                <a:lnTo>
                  <a:pt x="89572" y="302294"/>
                </a:lnTo>
                <a:lnTo>
                  <a:pt x="120492" y="302294"/>
                </a:lnTo>
                <a:lnTo>
                  <a:pt x="120492" y="259097"/>
                </a:lnTo>
                <a:close/>
                <a:moveTo>
                  <a:pt x="33954" y="259097"/>
                </a:moveTo>
                <a:lnTo>
                  <a:pt x="33954" y="351610"/>
                </a:lnTo>
                <a:lnTo>
                  <a:pt x="176018" y="351610"/>
                </a:lnTo>
                <a:lnTo>
                  <a:pt x="176018" y="259097"/>
                </a:lnTo>
                <a:lnTo>
                  <a:pt x="139063" y="259097"/>
                </a:lnTo>
                <a:lnTo>
                  <a:pt x="139063" y="320834"/>
                </a:lnTo>
                <a:lnTo>
                  <a:pt x="71002" y="320834"/>
                </a:lnTo>
                <a:lnTo>
                  <a:pt x="71002" y="259097"/>
                </a:lnTo>
                <a:close/>
                <a:moveTo>
                  <a:pt x="15384" y="240557"/>
                </a:moveTo>
                <a:lnTo>
                  <a:pt x="194588" y="240557"/>
                </a:lnTo>
                <a:lnTo>
                  <a:pt x="194588" y="351610"/>
                </a:lnTo>
                <a:lnTo>
                  <a:pt x="213158" y="351610"/>
                </a:lnTo>
                <a:lnTo>
                  <a:pt x="213158" y="240557"/>
                </a:lnTo>
                <a:lnTo>
                  <a:pt x="392363" y="240557"/>
                </a:lnTo>
                <a:lnTo>
                  <a:pt x="392363" y="351610"/>
                </a:lnTo>
                <a:lnTo>
                  <a:pt x="410841" y="351610"/>
                </a:lnTo>
                <a:lnTo>
                  <a:pt x="410841" y="240557"/>
                </a:lnTo>
                <a:lnTo>
                  <a:pt x="590045" y="240557"/>
                </a:lnTo>
                <a:lnTo>
                  <a:pt x="590138" y="240557"/>
                </a:lnTo>
                <a:lnTo>
                  <a:pt x="590138" y="351610"/>
                </a:lnTo>
                <a:lnTo>
                  <a:pt x="602487" y="351610"/>
                </a:lnTo>
                <a:lnTo>
                  <a:pt x="602487" y="453485"/>
                </a:lnTo>
                <a:cubicBezTo>
                  <a:pt x="602487" y="472117"/>
                  <a:pt x="587167" y="487412"/>
                  <a:pt x="568411" y="487412"/>
                </a:cubicBezTo>
                <a:lnTo>
                  <a:pt x="552997" y="487412"/>
                </a:lnTo>
                <a:lnTo>
                  <a:pt x="552997" y="598465"/>
                </a:lnTo>
                <a:lnTo>
                  <a:pt x="497379" y="598465"/>
                </a:lnTo>
                <a:lnTo>
                  <a:pt x="497379" y="487412"/>
                </a:lnTo>
                <a:lnTo>
                  <a:pt x="108143" y="487412"/>
                </a:lnTo>
                <a:lnTo>
                  <a:pt x="108143" y="598465"/>
                </a:lnTo>
                <a:lnTo>
                  <a:pt x="52432" y="598465"/>
                </a:lnTo>
                <a:lnTo>
                  <a:pt x="52432" y="487412"/>
                </a:lnTo>
                <a:lnTo>
                  <a:pt x="37018" y="487412"/>
                </a:lnTo>
                <a:cubicBezTo>
                  <a:pt x="18262" y="487412"/>
                  <a:pt x="3034" y="472117"/>
                  <a:pt x="3034" y="453485"/>
                </a:cubicBezTo>
                <a:lnTo>
                  <a:pt x="3034" y="351610"/>
                </a:lnTo>
                <a:lnTo>
                  <a:pt x="15384" y="351610"/>
                </a:lnTo>
                <a:close/>
                <a:moveTo>
                  <a:pt x="450103" y="117271"/>
                </a:moveTo>
                <a:lnTo>
                  <a:pt x="434041" y="143970"/>
                </a:lnTo>
                <a:lnTo>
                  <a:pt x="412037" y="176973"/>
                </a:lnTo>
                <a:lnTo>
                  <a:pt x="420208" y="197460"/>
                </a:lnTo>
                <a:lnTo>
                  <a:pt x="441747" y="197460"/>
                </a:lnTo>
                <a:lnTo>
                  <a:pt x="441747" y="171966"/>
                </a:lnTo>
                <a:lnTo>
                  <a:pt x="469600" y="144248"/>
                </a:lnTo>
                <a:lnTo>
                  <a:pt x="497360" y="171966"/>
                </a:lnTo>
                <a:lnTo>
                  <a:pt x="497360" y="197460"/>
                </a:lnTo>
                <a:lnTo>
                  <a:pt x="518900" y="197460"/>
                </a:lnTo>
                <a:lnTo>
                  <a:pt x="527070" y="176973"/>
                </a:lnTo>
                <a:lnTo>
                  <a:pt x="504880" y="143599"/>
                </a:lnTo>
                <a:lnTo>
                  <a:pt x="489004" y="117271"/>
                </a:lnTo>
                <a:close/>
                <a:moveTo>
                  <a:pt x="202955" y="117271"/>
                </a:moveTo>
                <a:lnTo>
                  <a:pt x="186893" y="143970"/>
                </a:lnTo>
                <a:lnTo>
                  <a:pt x="164889" y="176973"/>
                </a:lnTo>
                <a:lnTo>
                  <a:pt x="173152" y="197460"/>
                </a:lnTo>
                <a:lnTo>
                  <a:pt x="194599" y="197460"/>
                </a:lnTo>
                <a:lnTo>
                  <a:pt x="194599" y="171966"/>
                </a:lnTo>
                <a:lnTo>
                  <a:pt x="222452" y="144248"/>
                </a:lnTo>
                <a:lnTo>
                  <a:pt x="250212" y="171966"/>
                </a:lnTo>
                <a:lnTo>
                  <a:pt x="250212" y="197460"/>
                </a:lnTo>
                <a:lnTo>
                  <a:pt x="271752" y="197460"/>
                </a:lnTo>
                <a:lnTo>
                  <a:pt x="279922" y="176973"/>
                </a:lnTo>
                <a:lnTo>
                  <a:pt x="257732" y="143599"/>
                </a:lnTo>
                <a:lnTo>
                  <a:pt x="241856" y="117271"/>
                </a:lnTo>
                <a:close/>
                <a:moveTo>
                  <a:pt x="435620" y="80282"/>
                </a:moveTo>
                <a:lnTo>
                  <a:pt x="435620" y="98730"/>
                </a:lnTo>
                <a:lnTo>
                  <a:pt x="503488" y="98730"/>
                </a:lnTo>
                <a:lnTo>
                  <a:pt x="503488" y="80282"/>
                </a:lnTo>
                <a:close/>
                <a:moveTo>
                  <a:pt x="188472" y="80282"/>
                </a:moveTo>
                <a:lnTo>
                  <a:pt x="188472" y="98730"/>
                </a:lnTo>
                <a:lnTo>
                  <a:pt x="256433" y="98730"/>
                </a:lnTo>
                <a:lnTo>
                  <a:pt x="256433" y="80282"/>
                </a:lnTo>
                <a:close/>
                <a:moveTo>
                  <a:pt x="0" y="0"/>
                </a:moveTo>
                <a:lnTo>
                  <a:pt x="605522" y="0"/>
                </a:lnTo>
                <a:lnTo>
                  <a:pt x="605522" y="18541"/>
                </a:lnTo>
                <a:lnTo>
                  <a:pt x="478884" y="18541"/>
                </a:lnTo>
                <a:lnTo>
                  <a:pt x="478884" y="61741"/>
                </a:lnTo>
                <a:lnTo>
                  <a:pt x="522056" y="61741"/>
                </a:lnTo>
                <a:lnTo>
                  <a:pt x="522056" y="117271"/>
                </a:lnTo>
                <a:lnTo>
                  <a:pt x="510637" y="117271"/>
                </a:lnTo>
                <a:lnTo>
                  <a:pt x="520664" y="133865"/>
                </a:lnTo>
                <a:lnTo>
                  <a:pt x="547960" y="174748"/>
                </a:lnTo>
                <a:lnTo>
                  <a:pt x="531434" y="216001"/>
                </a:lnTo>
                <a:lnTo>
                  <a:pt x="478792" y="216001"/>
                </a:lnTo>
                <a:lnTo>
                  <a:pt x="478792" y="179661"/>
                </a:lnTo>
                <a:lnTo>
                  <a:pt x="469600" y="170483"/>
                </a:lnTo>
                <a:lnTo>
                  <a:pt x="460316" y="179661"/>
                </a:lnTo>
                <a:lnTo>
                  <a:pt x="460316" y="216001"/>
                </a:lnTo>
                <a:lnTo>
                  <a:pt x="407674" y="216001"/>
                </a:lnTo>
                <a:lnTo>
                  <a:pt x="391148" y="174748"/>
                </a:lnTo>
                <a:lnTo>
                  <a:pt x="418444" y="133865"/>
                </a:lnTo>
                <a:lnTo>
                  <a:pt x="428471" y="117271"/>
                </a:lnTo>
                <a:lnTo>
                  <a:pt x="417051" y="117271"/>
                </a:lnTo>
                <a:lnTo>
                  <a:pt x="417051" y="61741"/>
                </a:lnTo>
                <a:lnTo>
                  <a:pt x="460316" y="61741"/>
                </a:lnTo>
                <a:lnTo>
                  <a:pt x="460316" y="18541"/>
                </a:lnTo>
                <a:lnTo>
                  <a:pt x="231736" y="18541"/>
                </a:lnTo>
                <a:lnTo>
                  <a:pt x="231736" y="61741"/>
                </a:lnTo>
                <a:lnTo>
                  <a:pt x="275001" y="61741"/>
                </a:lnTo>
                <a:lnTo>
                  <a:pt x="275001" y="117271"/>
                </a:lnTo>
                <a:lnTo>
                  <a:pt x="263581" y="117271"/>
                </a:lnTo>
                <a:lnTo>
                  <a:pt x="273516" y="133865"/>
                </a:lnTo>
                <a:lnTo>
                  <a:pt x="300812" y="174748"/>
                </a:lnTo>
                <a:lnTo>
                  <a:pt x="284285" y="216001"/>
                </a:lnTo>
                <a:lnTo>
                  <a:pt x="231644" y="216001"/>
                </a:lnTo>
                <a:lnTo>
                  <a:pt x="231644" y="179661"/>
                </a:lnTo>
                <a:lnTo>
                  <a:pt x="222452" y="170483"/>
                </a:lnTo>
                <a:lnTo>
                  <a:pt x="213168" y="179661"/>
                </a:lnTo>
                <a:lnTo>
                  <a:pt x="213168" y="216001"/>
                </a:lnTo>
                <a:lnTo>
                  <a:pt x="160526" y="216001"/>
                </a:lnTo>
                <a:lnTo>
                  <a:pt x="144000" y="174748"/>
                </a:lnTo>
                <a:lnTo>
                  <a:pt x="171296" y="133865"/>
                </a:lnTo>
                <a:lnTo>
                  <a:pt x="181323" y="117271"/>
                </a:lnTo>
                <a:lnTo>
                  <a:pt x="169903" y="117271"/>
                </a:lnTo>
                <a:lnTo>
                  <a:pt x="169903" y="61741"/>
                </a:lnTo>
                <a:lnTo>
                  <a:pt x="213168" y="61741"/>
                </a:lnTo>
                <a:lnTo>
                  <a:pt x="213168" y="18541"/>
                </a:lnTo>
                <a:lnTo>
                  <a:pt x="0" y="18541"/>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矩形: 圆角 50"/>
          <p:cNvSpPr/>
          <p:nvPr/>
        </p:nvSpPr>
        <p:spPr>
          <a:xfrm>
            <a:off x="334010" y="690245"/>
            <a:ext cx="3531235" cy="1424305"/>
          </a:xfrm>
          <a:prstGeom prst="roundRect">
            <a:avLst>
              <a:gd name="adj" fmla="val 4636"/>
            </a:avLst>
          </a:prstGeom>
          <a:noFill/>
          <a:ln w="12700">
            <a:solidFill>
              <a:schemeClr val="bg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左右箭头 9"/>
          <p:cNvSpPr/>
          <p:nvPr/>
        </p:nvSpPr>
        <p:spPr>
          <a:xfrm>
            <a:off x="580390" y="931545"/>
            <a:ext cx="3025775" cy="389890"/>
          </a:xfrm>
          <a:prstGeom prst="lef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文本框 10"/>
          <p:cNvSpPr txBox="1"/>
          <p:nvPr/>
        </p:nvSpPr>
        <p:spPr>
          <a:xfrm>
            <a:off x="2800985" y="1724660"/>
            <a:ext cx="941705" cy="260350"/>
          </a:xfrm>
          <a:prstGeom prst="rect">
            <a:avLst/>
          </a:prstGeom>
          <a:ln w="12700">
            <a:noFill/>
          </a:ln>
        </p:spPr>
        <p:txBody>
          <a:bodyPr wrap="square">
            <a:spAutoFit/>
          </a:bodyPr>
          <a:lstStyle/>
          <a:p>
            <a:pPr lvl="0" algn="ctr" defTabSz="266700">
              <a:buClrTx/>
              <a:buSzTx/>
              <a:buFontTx/>
            </a:pPr>
            <a:r>
              <a:rPr lang="en-US" altLang="zh-CN" sz="1100" dirty="0">
                <a:latin typeface="Times New Roman" panose="02020503050405090304" charset="0"/>
                <a:cs typeface="Times New Roman" panose="02020503050405090304" charset="0"/>
                <a:sym typeface="+mn-ea"/>
              </a:rPr>
              <a:t>Recycler</a:t>
            </a:r>
            <a:endParaRPr lang="en-US" altLang="zh-CN" sz="1100" dirty="0">
              <a:latin typeface="Times New Roman" panose="02020503050405090304" charset="0"/>
              <a:cs typeface="Times New Roman" panose="02020503050405090304" charset="0"/>
              <a:sym typeface="+mn-ea"/>
            </a:endParaRPr>
          </a:p>
        </p:txBody>
      </p:sp>
      <p:sp>
        <p:nvSpPr>
          <p:cNvPr id="18" name="矩形: 圆角 52"/>
          <p:cNvSpPr/>
          <p:nvPr/>
        </p:nvSpPr>
        <p:spPr>
          <a:xfrm>
            <a:off x="325755" y="4673600"/>
            <a:ext cx="3531235" cy="1929765"/>
          </a:xfrm>
          <a:prstGeom prst="roundRect">
            <a:avLst>
              <a:gd name="adj" fmla="val 4636"/>
            </a:avLst>
          </a:prstGeom>
          <a:noFill/>
          <a:ln w="12700">
            <a:solidFill>
              <a:schemeClr val="bg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右箭头 16"/>
          <p:cNvSpPr/>
          <p:nvPr/>
        </p:nvSpPr>
        <p:spPr>
          <a:xfrm rot="5400000">
            <a:off x="2090420" y="2074545"/>
            <a:ext cx="132715" cy="271145"/>
          </a:xfrm>
          <a:prstGeom prs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9" name="文本框 88"/>
          <p:cNvSpPr txBox="1"/>
          <p:nvPr/>
        </p:nvSpPr>
        <p:spPr>
          <a:xfrm>
            <a:off x="316939" y="686545"/>
            <a:ext cx="2751455" cy="275590"/>
          </a:xfrm>
          <a:prstGeom prst="rect">
            <a:avLst/>
          </a:prstGeom>
          <a:ln w="12700">
            <a:noFill/>
          </a:ln>
        </p:spPr>
        <p:txBody>
          <a:bodyPr wrap="square">
            <a:spAutoFit/>
          </a:bodyPr>
          <a:lstStyle/>
          <a:p>
            <a:pPr lvl="0" defTabSz="266700">
              <a:buClrTx/>
              <a:buSzTx/>
              <a:buFontTx/>
            </a:pPr>
            <a:r>
              <a:rPr lang="en-US" altLang="zh-CN" sz="1200" b="1" dirty="0">
                <a:solidFill>
                  <a:schemeClr val="tx1"/>
                </a:solidFill>
                <a:effectLst/>
                <a:latin typeface="Times New Roman" panose="02020503050405090304" charset="0"/>
                <a:cs typeface="Times New Roman" panose="02020503050405090304" charset="0"/>
                <a:sym typeface="+mn-ea"/>
              </a:rPr>
              <a:t>Waste Concrete </a:t>
            </a:r>
            <a:r>
              <a:rPr lang="en-US" altLang="zh-CN" sz="1200" b="1" dirty="0">
                <a:solidFill>
                  <a:schemeClr val="tx1"/>
                </a:solidFill>
                <a:effectLst/>
                <a:latin typeface="Times New Roman" panose="02020503050405090304" charset="0"/>
                <a:cs typeface="Times New Roman" panose="02020503050405090304" charset="0"/>
                <a:sym typeface="+mn-ea"/>
              </a:rPr>
              <a:t>Recycling</a:t>
            </a:r>
            <a:endParaRPr lang="en-US" altLang="zh-CN" sz="1200" b="1" dirty="0">
              <a:solidFill>
                <a:schemeClr val="tx1"/>
              </a:solidFill>
              <a:effectLst/>
              <a:latin typeface="Times New Roman" panose="02020503050405090304" charset="0"/>
              <a:cs typeface="Times New Roman" panose="02020503050405090304" charset="0"/>
              <a:sym typeface="+mn-ea"/>
            </a:endParaRPr>
          </a:p>
        </p:txBody>
      </p:sp>
      <p:sp>
        <p:nvSpPr>
          <p:cNvPr id="44" name="文本框 43"/>
          <p:cNvSpPr txBox="1"/>
          <p:nvPr/>
        </p:nvSpPr>
        <p:spPr>
          <a:xfrm>
            <a:off x="1650702" y="1777726"/>
            <a:ext cx="1079393" cy="337185"/>
          </a:xfrm>
          <a:prstGeom prst="rect">
            <a:avLst/>
          </a:prstGeom>
          <a:ln w="12700">
            <a:noFill/>
          </a:ln>
        </p:spPr>
        <p:txBody>
          <a:bodyPr wrap="square">
            <a:spAutoFit/>
          </a:bodyPr>
          <a:lstStyle/>
          <a:p>
            <a:pPr lvl="0" algn="ctr" defTabSz="266700">
              <a:buClrTx/>
              <a:buSzTx/>
              <a:buFontTx/>
            </a:pPr>
            <a:r>
              <a:rPr lang="en-US" altLang="zh-CN" sz="1600" dirty="0">
                <a:latin typeface="Times New Roman" panose="02020503050405090304" charset="0"/>
                <a:cs typeface="Times New Roman" panose="02020503050405090304" charset="0"/>
                <a:sym typeface="+mn-ea"/>
              </a:rPr>
              <a:t>CO</a:t>
            </a:r>
            <a:r>
              <a:rPr lang="en-US" altLang="zh-CN" sz="1600" baseline="-25000" dirty="0">
                <a:latin typeface="Times New Roman" panose="02020503050405090304" charset="0"/>
                <a:cs typeface="Times New Roman" panose="02020503050405090304" charset="0"/>
                <a:sym typeface="+mn-ea"/>
              </a:rPr>
              <a:t>2</a:t>
            </a:r>
            <a:endParaRPr lang="en-US" altLang="zh-CN" sz="1600" baseline="-25000" dirty="0">
              <a:latin typeface="Times New Roman" panose="02020503050405090304" charset="0"/>
              <a:cs typeface="Times New Roman" panose="02020503050405090304" charset="0"/>
              <a:sym typeface="+mn-ea"/>
            </a:endParaRPr>
          </a:p>
        </p:txBody>
      </p:sp>
      <p:sp>
        <p:nvSpPr>
          <p:cNvPr id="125" name="文本框 124"/>
          <p:cNvSpPr txBox="1"/>
          <p:nvPr/>
        </p:nvSpPr>
        <p:spPr>
          <a:xfrm>
            <a:off x="4639945" y="1930400"/>
            <a:ext cx="1191260" cy="476250"/>
          </a:xfrm>
          <a:prstGeom prst="rect">
            <a:avLst/>
          </a:prstGeom>
          <a:noFill/>
        </p:spPr>
        <p:txBody>
          <a:bodyPr wrap="square" rtlCol="0" anchor="t">
            <a:noAutofit/>
          </a:bodyPr>
          <a:p>
            <a:r>
              <a:rPr lang="en-US" altLang="zh-CN" sz="1100" b="1" dirty="0">
                <a:latin typeface="Times New Roman" panose="02020503050405090304"/>
                <a:ea typeface="Times New Roman" panose="02020503050405090304"/>
                <a:sym typeface="+mn-ea"/>
              </a:rPr>
              <a:t>Non-cooperati</a:t>
            </a:r>
            <a:r>
              <a:rPr lang="en-US" altLang="zh-CN" sz="1100" b="1" dirty="0">
                <a:latin typeface="Times New Roman" panose="02020503050405090304"/>
                <a:ea typeface="Times New Roman" panose="02020503050405090304"/>
                <a:sym typeface="+mn-ea"/>
              </a:rPr>
              <a:t>ve</a:t>
            </a:r>
            <a:endParaRPr lang="en-US" altLang="zh-CN" sz="1100" b="1" dirty="0">
              <a:latin typeface="Times New Roman" panose="02020503050405090304"/>
              <a:ea typeface="Times New Roman" panose="02020503050405090304"/>
              <a:sym typeface="+mn-ea"/>
            </a:endParaRPr>
          </a:p>
          <a:p>
            <a:pPr algn="ctr"/>
            <a:r>
              <a:rPr lang="en-US" altLang="zh-CN" sz="1100" b="1" dirty="0">
                <a:latin typeface="Times New Roman" panose="02020503050405090304"/>
                <a:ea typeface="Times New Roman" panose="02020503050405090304"/>
                <a:sym typeface="+mn-ea"/>
              </a:rPr>
              <a:t>game</a:t>
            </a:r>
            <a:endParaRPr lang="en-US" altLang="zh-CN" sz="1100" b="1" dirty="0">
              <a:latin typeface="Times New Roman" panose="02020503050405090304"/>
              <a:ea typeface="Times New Roman" panose="02020503050405090304"/>
              <a:sym typeface="+mn-ea"/>
            </a:endParaRPr>
          </a:p>
        </p:txBody>
      </p:sp>
      <p:sp>
        <p:nvSpPr>
          <p:cNvPr id="126" name="文本框 125"/>
          <p:cNvSpPr txBox="1"/>
          <p:nvPr/>
        </p:nvSpPr>
        <p:spPr>
          <a:xfrm>
            <a:off x="6321425" y="1930400"/>
            <a:ext cx="1191260" cy="277495"/>
          </a:xfrm>
          <a:prstGeom prst="rect">
            <a:avLst/>
          </a:prstGeom>
          <a:noFill/>
        </p:spPr>
        <p:txBody>
          <a:bodyPr wrap="square" rtlCol="0" anchor="t">
            <a:noAutofit/>
          </a:bodyPr>
          <a:p>
            <a:pPr algn="ctr"/>
            <a:r>
              <a:rPr lang="en-US" altLang="zh-CN" sz="1100" b="1" dirty="0">
                <a:latin typeface="Times New Roman" panose="02020503050405090304"/>
                <a:ea typeface="Times New Roman" panose="02020503050405090304"/>
                <a:sym typeface="+mn-ea"/>
              </a:rPr>
              <a:t>Biform </a:t>
            </a:r>
            <a:r>
              <a:rPr lang="en-US" altLang="zh-CN" sz="1100" b="1" dirty="0">
                <a:latin typeface="Times New Roman" panose="02020503050405090304"/>
                <a:ea typeface="Times New Roman" panose="02020503050405090304"/>
                <a:sym typeface="+mn-ea"/>
              </a:rPr>
              <a:t>game</a:t>
            </a:r>
            <a:endParaRPr lang="en-US" altLang="zh-CN" sz="1100" b="1" dirty="0">
              <a:latin typeface="Times New Roman" panose="02020503050405090304"/>
              <a:ea typeface="Times New Roman" panose="02020503050405090304"/>
              <a:sym typeface="+mn-ea"/>
            </a:endParaRPr>
          </a:p>
        </p:txBody>
      </p:sp>
      <p:pic>
        <p:nvPicPr>
          <p:cNvPr id="166" name="图片 165"/>
          <p:cNvPicPr>
            <a:picLocks noChangeAspect="1"/>
          </p:cNvPicPr>
          <p:nvPr/>
        </p:nvPicPr>
        <p:blipFill>
          <a:blip r:embed="rId1"/>
          <a:stretch>
            <a:fillRect/>
          </a:stretch>
        </p:blipFill>
        <p:spPr>
          <a:xfrm>
            <a:off x="6069965" y="904240"/>
            <a:ext cx="1694180" cy="1067435"/>
          </a:xfrm>
          <a:prstGeom prst="rect">
            <a:avLst/>
          </a:prstGeom>
        </p:spPr>
      </p:pic>
      <p:pic>
        <p:nvPicPr>
          <p:cNvPr id="202" name="图片 201"/>
          <p:cNvPicPr>
            <a:picLocks noChangeAspect="1"/>
          </p:cNvPicPr>
          <p:nvPr/>
        </p:nvPicPr>
        <p:blipFill>
          <a:blip r:embed="rId2"/>
          <a:stretch>
            <a:fillRect/>
          </a:stretch>
        </p:blipFill>
        <p:spPr>
          <a:xfrm>
            <a:off x="4388485" y="920115"/>
            <a:ext cx="1694180" cy="1067435"/>
          </a:xfrm>
          <a:prstGeom prst="rect">
            <a:avLst/>
          </a:prstGeom>
        </p:spPr>
      </p:pic>
      <p:pic>
        <p:nvPicPr>
          <p:cNvPr id="216" name="图片 215"/>
          <p:cNvPicPr>
            <a:picLocks noChangeAspect="1"/>
          </p:cNvPicPr>
          <p:nvPr/>
        </p:nvPicPr>
        <p:blipFill>
          <a:blip r:embed="rId3"/>
          <a:stretch>
            <a:fillRect/>
          </a:stretch>
        </p:blipFill>
        <p:spPr>
          <a:xfrm>
            <a:off x="4388485" y="2898775"/>
            <a:ext cx="3221355" cy="1693545"/>
          </a:xfrm>
          <a:prstGeom prst="rect">
            <a:avLst/>
          </a:prstGeom>
        </p:spPr>
      </p:pic>
      <p:pic>
        <p:nvPicPr>
          <p:cNvPr id="217" name="图片 216" descr="截屏2026-06-22 10.27.25"/>
          <p:cNvPicPr>
            <a:picLocks noChangeAspect="1"/>
          </p:cNvPicPr>
          <p:nvPr/>
        </p:nvPicPr>
        <p:blipFill>
          <a:blip r:embed="rId4"/>
          <a:srcRect b="61784"/>
          <a:stretch>
            <a:fillRect/>
          </a:stretch>
        </p:blipFill>
        <p:spPr>
          <a:xfrm>
            <a:off x="4487545" y="5038090"/>
            <a:ext cx="3025140" cy="1411605"/>
          </a:xfrm>
          <a:prstGeom prst="rect">
            <a:avLst/>
          </a:prstGeom>
        </p:spPr>
      </p:pic>
      <p:sp>
        <p:nvSpPr>
          <p:cNvPr id="218" name="文本框 217"/>
          <p:cNvSpPr txBox="1"/>
          <p:nvPr/>
        </p:nvSpPr>
        <p:spPr>
          <a:xfrm>
            <a:off x="5292725" y="6283325"/>
            <a:ext cx="1542415" cy="337185"/>
          </a:xfrm>
          <a:prstGeom prst="rect">
            <a:avLst/>
          </a:prstGeom>
          <a:noFill/>
        </p:spPr>
        <p:txBody>
          <a:bodyPr wrap="square" rtlCol="0">
            <a:spAutoFit/>
          </a:bodyPr>
          <a:p>
            <a:pPr algn="ctr"/>
            <a:r>
              <a:rPr lang="zh-CN" altLang="en-US" sz="1600"/>
              <a:t>……</a:t>
            </a:r>
            <a:endParaRPr lang="zh-CN" altLang="en-US" sz="1600"/>
          </a:p>
        </p:txBody>
      </p:sp>
      <p:pic>
        <p:nvPicPr>
          <p:cNvPr id="219" name="图片 218" descr="Fig. 3"/>
          <p:cNvPicPr>
            <a:picLocks noChangeAspect="1"/>
          </p:cNvPicPr>
          <p:nvPr/>
        </p:nvPicPr>
        <p:blipFill>
          <a:blip r:embed="rId5"/>
          <a:stretch>
            <a:fillRect/>
          </a:stretch>
        </p:blipFill>
        <p:spPr>
          <a:xfrm>
            <a:off x="10544175" y="2167890"/>
            <a:ext cx="1071880" cy="858520"/>
          </a:xfrm>
          <a:prstGeom prst="rect">
            <a:avLst/>
          </a:prstGeom>
        </p:spPr>
      </p:pic>
      <p:pic>
        <p:nvPicPr>
          <p:cNvPr id="220" name="图片 219" descr="Fig. 4"/>
          <p:cNvPicPr>
            <a:picLocks noChangeAspect="1"/>
          </p:cNvPicPr>
          <p:nvPr/>
        </p:nvPicPr>
        <p:blipFill>
          <a:blip r:embed="rId6"/>
          <a:stretch>
            <a:fillRect/>
          </a:stretch>
        </p:blipFill>
        <p:spPr>
          <a:xfrm>
            <a:off x="8263890" y="1144905"/>
            <a:ext cx="2190115" cy="1753870"/>
          </a:xfrm>
          <a:prstGeom prst="rect">
            <a:avLst/>
          </a:prstGeom>
        </p:spPr>
      </p:pic>
      <p:pic>
        <p:nvPicPr>
          <p:cNvPr id="221" name="图片 220" descr="Fig. 5"/>
          <p:cNvPicPr>
            <a:picLocks noChangeAspect="1"/>
          </p:cNvPicPr>
          <p:nvPr/>
        </p:nvPicPr>
        <p:blipFill>
          <a:blip r:embed="rId7"/>
          <a:stretch>
            <a:fillRect/>
          </a:stretch>
        </p:blipFill>
        <p:spPr>
          <a:xfrm>
            <a:off x="10454005" y="1071880"/>
            <a:ext cx="1071880" cy="858520"/>
          </a:xfrm>
          <a:prstGeom prst="rect">
            <a:avLst/>
          </a:prstGeom>
        </p:spPr>
      </p:pic>
      <p:pic>
        <p:nvPicPr>
          <p:cNvPr id="222" name="图片 221" descr="Fig. 6(a)"/>
          <p:cNvPicPr>
            <a:picLocks noChangeAspect="1"/>
          </p:cNvPicPr>
          <p:nvPr/>
        </p:nvPicPr>
        <p:blipFill>
          <a:blip r:embed="rId8"/>
          <a:stretch>
            <a:fillRect/>
          </a:stretch>
        </p:blipFill>
        <p:spPr>
          <a:xfrm>
            <a:off x="10110470" y="4298950"/>
            <a:ext cx="1505585" cy="1339215"/>
          </a:xfrm>
          <a:prstGeom prst="rect">
            <a:avLst/>
          </a:prstGeom>
        </p:spPr>
      </p:pic>
      <p:pic>
        <p:nvPicPr>
          <p:cNvPr id="223" name="图片 222" descr="Fig. 6(b)"/>
          <p:cNvPicPr>
            <a:picLocks noChangeAspect="1"/>
          </p:cNvPicPr>
          <p:nvPr/>
        </p:nvPicPr>
        <p:blipFill>
          <a:blip r:embed="rId9"/>
          <a:stretch>
            <a:fillRect/>
          </a:stretch>
        </p:blipFill>
        <p:spPr>
          <a:xfrm>
            <a:off x="8439785" y="4298950"/>
            <a:ext cx="1505585" cy="1339215"/>
          </a:xfrm>
          <a:prstGeom prst="rect">
            <a:avLst/>
          </a:prstGeom>
        </p:spPr>
      </p:pic>
      <p:pic>
        <p:nvPicPr>
          <p:cNvPr id="224" name="图片 223" descr="Fig. 7"/>
          <p:cNvPicPr>
            <a:picLocks noChangeAspect="1"/>
          </p:cNvPicPr>
          <p:nvPr/>
        </p:nvPicPr>
        <p:blipFill>
          <a:blip r:embed="rId10"/>
          <a:stretch>
            <a:fillRect/>
          </a:stretch>
        </p:blipFill>
        <p:spPr>
          <a:xfrm>
            <a:off x="8462645" y="5752465"/>
            <a:ext cx="3221990" cy="812165"/>
          </a:xfrm>
          <a:prstGeom prst="rect">
            <a:avLst/>
          </a:prstGeom>
        </p:spPr>
      </p:pic>
      <p:sp>
        <p:nvSpPr>
          <p:cNvPr id="226" name="下箭头 225"/>
          <p:cNvSpPr/>
          <p:nvPr/>
        </p:nvSpPr>
        <p:spPr>
          <a:xfrm>
            <a:off x="1986915" y="1284605"/>
            <a:ext cx="339090" cy="549275"/>
          </a:xfrm>
          <a:prstGeom prst="down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27" name="文本框 226"/>
          <p:cNvSpPr txBox="1"/>
          <p:nvPr/>
        </p:nvSpPr>
        <p:spPr>
          <a:xfrm>
            <a:off x="1312545" y="1005205"/>
            <a:ext cx="1687830" cy="245110"/>
          </a:xfrm>
          <a:prstGeom prst="rect">
            <a:avLst/>
          </a:prstGeom>
          <a:ln w="12700">
            <a:noFill/>
          </a:ln>
        </p:spPr>
        <p:txBody>
          <a:bodyPr wrap="square">
            <a:spAutoFit/>
          </a:bodyPr>
          <a:lstStyle/>
          <a:p>
            <a:pPr lvl="0" algn="ctr" defTabSz="266700">
              <a:buClrTx/>
              <a:buSzTx/>
              <a:buFontTx/>
            </a:pPr>
            <a:r>
              <a:rPr lang="en-US" altLang="zh-CN" sz="1000" b="1" dirty="0">
                <a:latin typeface="Times New Roman" panose="02020503050405090304" charset="0"/>
                <a:cs typeface="Times New Roman" panose="02020503050405090304" charset="0"/>
                <a:sym typeface="+mn-ea"/>
              </a:rPr>
              <a:t>Waste Concrete</a:t>
            </a:r>
            <a:endParaRPr lang="en-US" altLang="zh-CN" sz="1000" b="1" dirty="0">
              <a:latin typeface="Times New Roman" panose="02020503050405090304" charset="0"/>
              <a:cs typeface="Times New Roman" panose="02020503050405090304" charset="0"/>
              <a:sym typeface="+mn-ea"/>
            </a:endParaRPr>
          </a:p>
        </p:txBody>
      </p:sp>
      <p:sp>
        <p:nvSpPr>
          <p:cNvPr id="228" name="矩形: 圆角 52"/>
          <p:cNvSpPr/>
          <p:nvPr/>
        </p:nvSpPr>
        <p:spPr>
          <a:xfrm>
            <a:off x="401955" y="2987040"/>
            <a:ext cx="1680845" cy="1339215"/>
          </a:xfrm>
          <a:prstGeom prst="roundRect">
            <a:avLst>
              <a:gd name="adj" fmla="val 4636"/>
            </a:avLst>
          </a:prstGeom>
          <a:solidFill>
            <a:schemeClr val="accent4">
              <a:lumMod val="60000"/>
              <a:lumOff val="40000"/>
            </a:schemeClr>
          </a:solidFill>
          <a:ln w="12700">
            <a:no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lnSpc>
                <a:spcPct val="150000"/>
              </a:lnSpc>
            </a:pPr>
            <a:endParaRPr lang="en-US" altLang="zh-CN" sz="1100" dirty="0">
              <a:solidFill>
                <a:schemeClr val="tx1"/>
              </a:solidFill>
              <a:latin typeface="Times New Roman" panose="02020503050405090304" charset="0"/>
              <a:cs typeface="Times New Roman" panose="02020503050405090304" charset="0"/>
            </a:endParaRPr>
          </a:p>
        </p:txBody>
      </p:sp>
      <p:sp>
        <p:nvSpPr>
          <p:cNvPr id="229" name="矩形: 圆角 52"/>
          <p:cNvSpPr/>
          <p:nvPr/>
        </p:nvSpPr>
        <p:spPr>
          <a:xfrm>
            <a:off x="2124710" y="2990850"/>
            <a:ext cx="1678940" cy="1338580"/>
          </a:xfrm>
          <a:prstGeom prst="roundRect">
            <a:avLst>
              <a:gd name="adj" fmla="val 4636"/>
            </a:avLst>
          </a:prstGeom>
          <a:solidFill>
            <a:schemeClr val="accent4">
              <a:lumMod val="60000"/>
              <a:lumOff val="40000"/>
            </a:schemeClr>
          </a:solidFill>
          <a:ln w="12700">
            <a:no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indent="0" algn="l" fontAlgn="auto">
              <a:lnSpc>
                <a:spcPct val="100000"/>
              </a:lnSpc>
            </a:pPr>
            <a:endParaRPr lang="en-US" sz="1100" dirty="0">
              <a:latin typeface="Times New Roman" panose="02020503050405090304" charset="0"/>
              <a:cs typeface="Times New Roman" panose="02020503050405090304" charset="0"/>
            </a:endParaRPr>
          </a:p>
        </p:txBody>
      </p:sp>
      <p:sp>
        <p:nvSpPr>
          <p:cNvPr id="231" name="文本框 230"/>
          <p:cNvSpPr txBox="1"/>
          <p:nvPr/>
        </p:nvSpPr>
        <p:spPr>
          <a:xfrm>
            <a:off x="337406" y="3036192"/>
            <a:ext cx="1764354" cy="275590"/>
          </a:xfrm>
          <a:prstGeom prst="rect">
            <a:avLst/>
          </a:prstGeom>
          <a:noFill/>
        </p:spPr>
        <p:txBody>
          <a:bodyPr wrap="square">
            <a:spAutoFit/>
          </a:bodyPr>
          <a:lstStyle/>
          <a:p>
            <a:pPr algn="ctr" fontAlgn="auto"/>
            <a:r>
              <a:rPr lang="en-US" altLang="zh-CN" sz="1200" b="1" dirty="0">
                <a:solidFill>
                  <a:schemeClr val="tx1"/>
                </a:solidFill>
                <a:latin typeface="Times New Roman" panose="02020503050405090304" charset="0"/>
                <a:cs typeface="Times New Roman" panose="02020503050405090304" charset="0"/>
                <a:sym typeface="+mn-ea"/>
              </a:rPr>
              <a:t>Competition</a:t>
            </a:r>
            <a:endParaRPr lang="en-US" altLang="zh-CN" sz="1200" b="1" dirty="0">
              <a:solidFill>
                <a:schemeClr val="tx1"/>
              </a:solidFill>
              <a:latin typeface="Times New Roman" panose="02020503050405090304" charset="0"/>
              <a:cs typeface="Times New Roman" panose="02020503050405090304" charset="0"/>
              <a:sym typeface="+mn-ea"/>
            </a:endParaRPr>
          </a:p>
        </p:txBody>
      </p:sp>
      <p:sp>
        <p:nvSpPr>
          <p:cNvPr id="233" name="文本框 232"/>
          <p:cNvSpPr txBox="1"/>
          <p:nvPr/>
        </p:nvSpPr>
        <p:spPr>
          <a:xfrm>
            <a:off x="2068988" y="3036192"/>
            <a:ext cx="1764354" cy="275590"/>
          </a:xfrm>
          <a:prstGeom prst="rect">
            <a:avLst/>
          </a:prstGeom>
          <a:noFill/>
        </p:spPr>
        <p:txBody>
          <a:bodyPr wrap="square">
            <a:spAutoFit/>
          </a:bodyPr>
          <a:lstStyle/>
          <a:p>
            <a:pPr algn="ctr" fontAlgn="auto"/>
            <a:r>
              <a:rPr lang="en-US" altLang="zh-CN" sz="1200" b="1" dirty="0">
                <a:solidFill>
                  <a:schemeClr val="tx1"/>
                </a:solidFill>
                <a:latin typeface="Times New Roman" panose="02020503050405090304" charset="0"/>
                <a:cs typeface="Times New Roman" panose="02020503050405090304" charset="0"/>
                <a:sym typeface="+mn-ea"/>
              </a:rPr>
              <a:t>Cooperation</a:t>
            </a:r>
            <a:endParaRPr lang="en-US" altLang="zh-CN" sz="1200" b="1" dirty="0">
              <a:solidFill>
                <a:schemeClr val="tx1"/>
              </a:solidFill>
              <a:latin typeface="Times New Roman" panose="02020503050405090304" charset="0"/>
              <a:cs typeface="Times New Roman" panose="02020503050405090304" charset="0"/>
              <a:sym typeface="+mn-ea"/>
            </a:endParaRPr>
          </a:p>
        </p:txBody>
      </p:sp>
      <p:sp>
        <p:nvSpPr>
          <p:cNvPr id="234" name="文本框 233"/>
          <p:cNvSpPr txBox="1"/>
          <p:nvPr/>
        </p:nvSpPr>
        <p:spPr>
          <a:xfrm>
            <a:off x="399415" y="3359785"/>
            <a:ext cx="1656715" cy="768350"/>
          </a:xfrm>
          <a:prstGeom prst="rect">
            <a:avLst/>
          </a:prstGeom>
          <a:noFill/>
        </p:spPr>
        <p:txBody>
          <a:bodyPr wrap="square">
            <a:spAutoFit/>
          </a:bodyPr>
          <a:lstStyle/>
          <a:p>
            <a:pPr marL="171450" indent="-171450" algn="l">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Front-end price competition</a:t>
            </a:r>
            <a:endParaRPr lang="en-US" altLang="zh-CN" sz="1100" dirty="0">
              <a:solidFill>
                <a:schemeClr val="tx1"/>
              </a:solidFill>
              <a:latin typeface="Times New Roman" panose="02020503050405090304" charset="0"/>
              <a:cs typeface="Times New Roman" panose="02020503050405090304" charset="0"/>
            </a:endParaRPr>
          </a:p>
          <a:p>
            <a:pPr marL="171450" indent="-171450" algn="l">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Securing limited waste concrete resources</a:t>
            </a:r>
            <a:endParaRPr lang="en-US" altLang="zh-CN" sz="1100" dirty="0">
              <a:solidFill>
                <a:schemeClr val="tx1"/>
              </a:solidFill>
              <a:latin typeface="Times New Roman" panose="02020503050405090304" charset="0"/>
              <a:cs typeface="Times New Roman" panose="02020503050405090304" charset="0"/>
            </a:endParaRPr>
          </a:p>
        </p:txBody>
      </p:sp>
      <p:sp>
        <p:nvSpPr>
          <p:cNvPr id="235" name="文本框 234"/>
          <p:cNvSpPr txBox="1"/>
          <p:nvPr/>
        </p:nvSpPr>
        <p:spPr>
          <a:xfrm>
            <a:off x="2144549" y="3324629"/>
            <a:ext cx="1720867" cy="937260"/>
          </a:xfrm>
          <a:prstGeom prst="rect">
            <a:avLst/>
          </a:prstGeom>
          <a:noFill/>
        </p:spPr>
        <p:txBody>
          <a:bodyPr wrap="square">
            <a:spAutoFit/>
          </a:bodyPr>
          <a:lstStyle/>
          <a:p>
            <a:pPr marL="171450" indent="-171450" algn="l">
              <a:buClrTx/>
              <a:buSzTx/>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Back-end R&amp;D investment sharing</a:t>
            </a:r>
            <a:endParaRPr lang="en-US" altLang="zh-CN" sz="1100" dirty="0">
              <a:solidFill>
                <a:schemeClr val="tx1"/>
              </a:solidFill>
              <a:latin typeface="Times New Roman" panose="02020503050405090304" charset="0"/>
              <a:cs typeface="Times New Roman" panose="02020503050405090304" charset="0"/>
            </a:endParaRPr>
          </a:p>
          <a:p>
            <a:pPr marL="171450" indent="-171450" algn="l">
              <a:buClrTx/>
              <a:buSzTx/>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Improving processing technologies</a:t>
            </a:r>
            <a:endParaRPr lang="en-US" altLang="zh-CN" sz="1100" dirty="0">
              <a:solidFill>
                <a:schemeClr val="tx1"/>
              </a:solidFill>
              <a:latin typeface="Times New Roman" panose="02020503050405090304" charset="0"/>
              <a:cs typeface="Times New Roman" panose="02020503050405090304" charset="0"/>
            </a:endParaRPr>
          </a:p>
          <a:p>
            <a:pPr marL="171450" indent="-171450" algn="l">
              <a:buClrTx/>
              <a:buSzTx/>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Profit distribution</a:t>
            </a:r>
            <a:endParaRPr lang="en-US" altLang="zh-CN" sz="1100" dirty="0">
              <a:solidFill>
                <a:schemeClr val="tx1"/>
              </a:solidFill>
              <a:latin typeface="Times New Roman" panose="02020503050405090304" charset="0"/>
              <a:cs typeface="Times New Roman" panose="02020503050405090304" charset="0"/>
            </a:endParaRPr>
          </a:p>
        </p:txBody>
      </p:sp>
      <p:sp>
        <p:nvSpPr>
          <p:cNvPr id="238" name="矩形: 圆角 52"/>
          <p:cNvSpPr/>
          <p:nvPr/>
        </p:nvSpPr>
        <p:spPr>
          <a:xfrm>
            <a:off x="463550" y="5423535"/>
            <a:ext cx="3279140" cy="1106805"/>
          </a:xfrm>
          <a:prstGeom prst="roundRect">
            <a:avLst>
              <a:gd name="adj" fmla="val 4636"/>
            </a:avLst>
          </a:prstGeom>
          <a:solidFill>
            <a:schemeClr val="accent4">
              <a:lumMod val="60000"/>
              <a:lumOff val="40000"/>
            </a:schemeClr>
          </a:solidFill>
          <a:ln w="12700">
            <a:no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l">
              <a:lnSpc>
                <a:spcPct val="150000"/>
              </a:lnSpc>
            </a:pPr>
            <a:endParaRPr lang="en-US" altLang="zh-CN" sz="1100" dirty="0">
              <a:solidFill>
                <a:schemeClr val="tx1"/>
              </a:solidFill>
              <a:latin typeface="Times New Roman" panose="02020503050405090304" charset="0"/>
              <a:cs typeface="Times New Roman" panose="02020503050405090304" charset="0"/>
            </a:endParaRPr>
          </a:p>
        </p:txBody>
      </p:sp>
      <p:sp>
        <p:nvSpPr>
          <p:cNvPr id="239" name="矩形: 圆角 52"/>
          <p:cNvSpPr/>
          <p:nvPr/>
        </p:nvSpPr>
        <p:spPr>
          <a:xfrm>
            <a:off x="372110" y="2329180"/>
            <a:ext cx="3531235" cy="2101215"/>
          </a:xfrm>
          <a:prstGeom prst="roundRect">
            <a:avLst>
              <a:gd name="adj" fmla="val 4636"/>
            </a:avLst>
          </a:prstGeom>
          <a:noFill/>
          <a:ln w="12700">
            <a:solidFill>
              <a:schemeClr val="bg1">
                <a:lumMod val="50000"/>
              </a:schemeClr>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右箭头 16"/>
          <p:cNvSpPr/>
          <p:nvPr/>
        </p:nvSpPr>
        <p:spPr>
          <a:xfrm rot="5400000">
            <a:off x="2085975" y="4408805"/>
            <a:ext cx="141605" cy="271145"/>
          </a:xfrm>
          <a:prstGeom prst="rightArrow">
            <a:avLst/>
          </a:prstGeom>
          <a:solidFill>
            <a:schemeClr val="accent4">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42" name="文本框 241"/>
          <p:cNvSpPr txBox="1"/>
          <p:nvPr/>
        </p:nvSpPr>
        <p:spPr>
          <a:xfrm>
            <a:off x="463550" y="5423535"/>
            <a:ext cx="3402965" cy="1106805"/>
          </a:xfrm>
          <a:prstGeom prst="rect">
            <a:avLst/>
          </a:prstGeom>
          <a:noFill/>
        </p:spPr>
        <p:txBody>
          <a:bodyPr wrap="square">
            <a:spAutoFit/>
          </a:bodyPr>
          <a:lstStyle/>
          <a:p>
            <a:pPr marL="171450" indent="-171450" algn="l">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It balances economic benefits with environmental protection in carbon-intensive recycling.</a:t>
            </a:r>
            <a:endParaRPr lang="en-US" altLang="zh-CN" sz="1100" dirty="0">
              <a:solidFill>
                <a:schemeClr val="tx1"/>
              </a:solidFill>
              <a:latin typeface="Times New Roman" panose="02020503050405090304" charset="0"/>
              <a:cs typeface="Times New Roman" panose="02020503050405090304" charset="0"/>
            </a:endParaRPr>
          </a:p>
          <a:p>
            <a:pPr marL="171450" indent="-171450" algn="l">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Carbon quotas and price fluctuations directly reshape enterprises' cost structures and profit margins.</a:t>
            </a:r>
            <a:endParaRPr lang="en-US" altLang="zh-CN" sz="1100" dirty="0">
              <a:solidFill>
                <a:schemeClr val="tx1"/>
              </a:solidFill>
              <a:latin typeface="Times New Roman" panose="02020503050405090304" charset="0"/>
              <a:cs typeface="Times New Roman" panose="02020503050405090304" charset="0"/>
            </a:endParaRPr>
          </a:p>
          <a:p>
            <a:pPr marL="171450" indent="-171450" algn="l">
              <a:buFont typeface="Arial" panose="020B0604020202090204" pitchFamily="34" charset="0"/>
              <a:buChar char="•"/>
            </a:pPr>
            <a:r>
              <a:rPr lang="en-US" altLang="zh-CN" sz="1100" dirty="0">
                <a:solidFill>
                  <a:schemeClr val="tx1"/>
                </a:solidFill>
                <a:latin typeface="Times New Roman" panose="02020503050405090304" charset="0"/>
                <a:cs typeface="Times New Roman" panose="02020503050405090304" charset="0"/>
              </a:rPr>
              <a:t>Research must address its overlooked impacts on enterprises' co-opetition and economic decisions.</a:t>
            </a:r>
            <a:endParaRPr lang="en-US" altLang="zh-CN" sz="1100" dirty="0">
              <a:solidFill>
                <a:schemeClr val="tx1"/>
              </a:solidFill>
              <a:latin typeface="Times New Roman" panose="02020503050405090304" charset="0"/>
              <a:cs typeface="Times New Roman" panose="02020503050405090304" charset="0"/>
            </a:endParaRPr>
          </a:p>
        </p:txBody>
      </p:sp>
    </p:spTree>
  </p:cSld>
  <p:clrMapOvr>
    <a:masterClrMapping/>
  </p:clrMapOvr>
</p:sld>
</file>

<file path=ppt/tags/tag1.xml><?xml version="1.0" encoding="utf-8"?>
<p:tagLst xmlns:p="http://schemas.openxmlformats.org/presentationml/2006/main">
  <p:tag name="RESOURCE_RECORD_KEY" val="{&quot;10&quot;:[21540250,21540209,21560612,4524211,2154836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1449</Words>
  <Application>WPS 演示</Application>
  <PresentationFormat>宽屏</PresentationFormat>
  <Paragraphs>52</Paragraphs>
  <Slides>1</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vt:i4>
      </vt:variant>
    </vt:vector>
  </HeadingPairs>
  <TitlesOfParts>
    <vt:vector size="18" baseType="lpstr">
      <vt:lpstr>Arial</vt:lpstr>
      <vt:lpstr>宋体</vt:lpstr>
      <vt:lpstr>Wingdings</vt:lpstr>
      <vt:lpstr>Times New Roman</vt:lpstr>
      <vt:lpstr>Times New Roman</vt:lpstr>
      <vt:lpstr>汉仪书宋二KW</vt:lpstr>
      <vt:lpstr>等线</vt:lpstr>
      <vt:lpstr>Calibri</vt:lpstr>
      <vt:lpstr>Helvetica Neue</vt:lpstr>
      <vt:lpstr>微软雅黑</vt:lpstr>
      <vt:lpstr>汉仪旗黑</vt:lpstr>
      <vt:lpstr>汉仪中等线KW</vt:lpstr>
      <vt:lpstr>宋体</vt:lpstr>
      <vt:lpstr>Arial Unicode MS</vt:lpstr>
      <vt:lpstr>微软雅黑</vt:lpstr>
      <vt:lpstr>等线</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cp:lastModifiedBy>
  <cp:revision>48</cp:revision>
  <dcterms:created xsi:type="dcterms:W3CDTF">2026-06-22T06:06:00Z</dcterms:created>
  <dcterms:modified xsi:type="dcterms:W3CDTF">2026-06-22T06:06:00Z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2052-12.1.24709.24709</vt:lpwstr>
  </property>
</Properties>
</file>